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2545"/>
        </a:solidFill>
        <a:effectLst/>
      </p:bgPr>
    </p:bg>
    <p:spTree>
      <p:nvGrpSpPr>
        <p:cNvPr id="1" name=""/>
        <p:cNvGrpSpPr/>
        <p:nvPr/>
      </p:nvGrpSpPr>
      <p:grpSpPr/>
      <p:sp>
        <p:nvSpPr>
          <p:cNvPr id="2" name="Rectangle 1"/>
          <p:cNvSpPr/>
          <p:nvPr/>
        </p:nvSpPr>
        <p:spPr>
          <a:xfrm>
            <a:off x="0" y="0"/>
            <a:ext cx="4059936" cy="109728"/>
          </a:xfrm>
          <a:prstGeom prst="rect">
            <a:avLst/>
          </a:prstGeom>
          <a:solidFill>
            <a:srgbClr val="FF99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059936" y="0"/>
            <a:ext cx="4059936" cy="1097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119872" y="0"/>
            <a:ext cx="4069080" cy="109728"/>
          </a:xfrm>
          <a:prstGeom prst="rect">
            <a:avLst/>
          </a:prstGeom>
          <a:solidFill>
            <a:srgbClr val="1388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0" y="1097280"/>
            <a:ext cx="12188952" cy="1280160"/>
          </a:xfrm>
          <a:prstGeom prst="rect">
            <a:avLst/>
          </a:prstGeom>
          <a:noFill/>
        </p:spPr>
        <p:txBody>
          <a:bodyPr wrap="square">
            <a:spAutoFit/>
          </a:bodyPr>
          <a:lstStyle/>
          <a:p>
            <a:pPr algn="ctr"/>
            <a:r>
              <a:rPr sz="5400" b="1" i="0">
                <a:solidFill>
                  <a:srgbClr val="FFFFFF"/>
                </a:solidFill>
              </a:rPr>
              <a:t>DigiSampatti</a:t>
            </a:r>
          </a:p>
        </p:txBody>
      </p:sp>
      <p:sp>
        <p:nvSpPr>
          <p:cNvPr id="6" name="TextBox 5"/>
          <p:cNvSpPr txBox="1"/>
          <p:nvPr/>
        </p:nvSpPr>
        <p:spPr>
          <a:xfrm>
            <a:off x="0" y="2286000"/>
            <a:ext cx="12188952" cy="640080"/>
          </a:xfrm>
          <a:prstGeom prst="rect">
            <a:avLst/>
          </a:prstGeom>
          <a:noFill/>
        </p:spPr>
        <p:txBody>
          <a:bodyPr wrap="square">
            <a:spAutoFit/>
          </a:bodyPr>
          <a:lstStyle/>
          <a:p>
            <a:pPr algn="ctr"/>
            <a:r>
              <a:rPr sz="2600" b="0" i="0">
                <a:solidFill>
                  <a:srgbClr val="FFD100"/>
                </a:solidFill>
              </a:rPr>
              <a:t>ಡಿಜಿ ಸಂಪತ್ತಿ</a:t>
            </a:r>
          </a:p>
        </p:txBody>
      </p:sp>
      <p:sp>
        <p:nvSpPr>
          <p:cNvPr id="7" name="TextBox 6"/>
          <p:cNvSpPr txBox="1"/>
          <p:nvPr/>
        </p:nvSpPr>
        <p:spPr>
          <a:xfrm>
            <a:off x="0" y="2834640"/>
            <a:ext cx="12188952" cy="548640"/>
          </a:xfrm>
          <a:prstGeom prst="rect">
            <a:avLst/>
          </a:prstGeom>
          <a:noFill/>
        </p:spPr>
        <p:txBody>
          <a:bodyPr wrap="square">
            <a:spAutoFit/>
          </a:bodyPr>
          <a:lstStyle/>
          <a:p>
            <a:pPr algn="ctr"/>
            <a:r>
              <a:rPr sz="2000" b="0" i="0">
                <a:solidFill>
                  <a:srgbClr val="FFFFFF"/>
                </a:solidFill>
              </a:rPr>
              <a:t>Karnataka's Property Legal Intelligence Platform</a:t>
            </a:r>
          </a:p>
        </p:txBody>
      </p:sp>
      <p:sp>
        <p:nvSpPr>
          <p:cNvPr id="8" name="TextBox 7"/>
          <p:cNvSpPr txBox="1"/>
          <p:nvPr/>
        </p:nvSpPr>
        <p:spPr>
          <a:xfrm>
            <a:off x="0" y="3337560"/>
            <a:ext cx="12188952" cy="457200"/>
          </a:xfrm>
          <a:prstGeom prst="rect">
            <a:avLst/>
          </a:prstGeom>
          <a:noFill/>
        </p:spPr>
        <p:txBody>
          <a:bodyPr wrap="square">
            <a:spAutoFit/>
          </a:bodyPr>
          <a:lstStyle/>
          <a:p>
            <a:pPr algn="ctr"/>
            <a:r>
              <a:rPr sz="1600" b="0" i="0">
                <a:solidFill>
                  <a:srgbClr val="C8D2E6"/>
                </a:solidFill>
              </a:rPr>
              <a:t>Making Government Data Understandable for Every Citizen</a:t>
            </a:r>
          </a:p>
        </p:txBody>
      </p:sp>
      <p:sp>
        <p:nvSpPr>
          <p:cNvPr id="9" name="TextBox 8"/>
          <p:cNvSpPr txBox="1"/>
          <p:nvPr/>
        </p:nvSpPr>
        <p:spPr>
          <a:xfrm>
            <a:off x="0" y="3931920"/>
            <a:ext cx="12188952" cy="457200"/>
          </a:xfrm>
          <a:prstGeom prst="rect">
            <a:avLst/>
          </a:prstGeom>
          <a:noFill/>
        </p:spPr>
        <p:txBody>
          <a:bodyPr wrap="square">
            <a:spAutoFit/>
          </a:bodyPr>
          <a:lstStyle/>
          <a:p>
            <a:pPr algn="ctr"/>
            <a:r>
              <a:rPr sz="1400" b="0" i="1">
                <a:solidFill>
                  <a:srgbClr val="A0B4D2"/>
                </a:solidFill>
              </a:rPr>
              <a:t>Presented to the Hon'ble Revenue Minister / MP, Government of Karnataka</a:t>
            </a:r>
          </a:p>
        </p:txBody>
      </p:sp>
      <p:sp>
        <p:nvSpPr>
          <p:cNvPr id="10" name="Rectangle 9"/>
          <p:cNvSpPr/>
          <p:nvPr/>
        </p:nvSpPr>
        <p:spPr>
          <a:xfrm>
            <a:off x="731520" y="4846320"/>
            <a:ext cx="2560320" cy="411480"/>
          </a:xfrm>
          <a:prstGeom prst="rect">
            <a:avLst/>
          </a:prstGeom>
          <a:solidFill>
            <a:srgbClr val="1E3764"/>
          </a:solidFill>
          <a:ln w="12700">
            <a:solidFill>
              <a:srgbClr val="648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4873752"/>
            <a:ext cx="2523744" cy="384048"/>
          </a:xfrm>
          <a:prstGeom prst="rect">
            <a:avLst/>
          </a:prstGeom>
          <a:noFill/>
        </p:spPr>
        <p:txBody>
          <a:bodyPr wrap="square">
            <a:spAutoFit/>
          </a:bodyPr>
          <a:lstStyle/>
          <a:p>
            <a:pPr algn="ctr"/>
            <a:r>
              <a:rPr sz="1100" b="1" i="0">
                <a:solidFill>
                  <a:srgbClr val="FFFFFF"/>
                </a:solidFill>
              </a:rPr>
              <a:t>Patent Pending</a:t>
            </a:r>
          </a:p>
        </p:txBody>
      </p:sp>
      <p:sp>
        <p:nvSpPr>
          <p:cNvPr id="12" name="Rectangle 11"/>
          <p:cNvSpPr/>
          <p:nvPr/>
        </p:nvSpPr>
        <p:spPr>
          <a:xfrm>
            <a:off x="3566160" y="4846320"/>
            <a:ext cx="2560320" cy="411480"/>
          </a:xfrm>
          <a:prstGeom prst="rect">
            <a:avLst/>
          </a:prstGeom>
          <a:solidFill>
            <a:srgbClr val="1E3764"/>
          </a:solidFill>
          <a:ln w="12700">
            <a:solidFill>
              <a:srgbClr val="648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84448" y="4873752"/>
            <a:ext cx="2523744" cy="384048"/>
          </a:xfrm>
          <a:prstGeom prst="rect">
            <a:avLst/>
          </a:prstGeom>
          <a:noFill/>
        </p:spPr>
        <p:txBody>
          <a:bodyPr wrap="square">
            <a:spAutoFit/>
          </a:bodyPr>
          <a:lstStyle/>
          <a:p>
            <a:pPr algn="ctr"/>
            <a:r>
              <a:rPr sz="1100" b="1" i="0">
                <a:solidFill>
                  <a:srgbClr val="FFFFFF"/>
                </a:solidFill>
              </a:rPr>
              <a:t>Submitted to Google Play Store</a:t>
            </a:r>
          </a:p>
        </p:txBody>
      </p:sp>
      <p:sp>
        <p:nvSpPr>
          <p:cNvPr id="14" name="Rectangle 13"/>
          <p:cNvSpPr/>
          <p:nvPr/>
        </p:nvSpPr>
        <p:spPr>
          <a:xfrm>
            <a:off x="6400800" y="4846320"/>
            <a:ext cx="2560320" cy="411480"/>
          </a:xfrm>
          <a:prstGeom prst="rect">
            <a:avLst/>
          </a:prstGeom>
          <a:solidFill>
            <a:srgbClr val="1E3764"/>
          </a:solidFill>
          <a:ln w="12700">
            <a:solidFill>
              <a:srgbClr val="648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19088" y="4873752"/>
            <a:ext cx="2523744" cy="384048"/>
          </a:xfrm>
          <a:prstGeom prst="rect">
            <a:avLst/>
          </a:prstGeom>
          <a:noFill/>
        </p:spPr>
        <p:txBody>
          <a:bodyPr wrap="square">
            <a:spAutoFit/>
          </a:bodyPr>
          <a:lstStyle/>
          <a:p>
            <a:pPr algn="ctr"/>
            <a:r>
              <a:rPr sz="1100" b="1" i="0">
                <a:solidFill>
                  <a:srgbClr val="FFFFFF"/>
                </a:solidFill>
              </a:rPr>
              <a:t>DPDP Act 2023 Compliant</a:t>
            </a:r>
          </a:p>
        </p:txBody>
      </p:sp>
      <p:sp>
        <p:nvSpPr>
          <p:cNvPr id="16" name="Rectangle 15"/>
          <p:cNvSpPr/>
          <p:nvPr/>
        </p:nvSpPr>
        <p:spPr>
          <a:xfrm>
            <a:off x="9235440" y="4846320"/>
            <a:ext cx="2560320" cy="411480"/>
          </a:xfrm>
          <a:prstGeom prst="rect">
            <a:avLst/>
          </a:prstGeom>
          <a:solidFill>
            <a:srgbClr val="1E3764"/>
          </a:solidFill>
          <a:ln w="12700">
            <a:solidFill>
              <a:srgbClr val="648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253728" y="4873752"/>
            <a:ext cx="2523744" cy="384048"/>
          </a:xfrm>
          <a:prstGeom prst="rect">
            <a:avLst/>
          </a:prstGeom>
          <a:noFill/>
        </p:spPr>
        <p:txBody>
          <a:bodyPr wrap="square">
            <a:spAutoFit/>
          </a:bodyPr>
          <a:lstStyle/>
          <a:p>
            <a:pPr algn="ctr"/>
            <a:r>
              <a:rPr sz="1100" b="1" i="0">
                <a:solidFill>
                  <a:srgbClr val="FFFFFF"/>
                </a:solidFill>
              </a:rPr>
              <a:t>Digital India Aligned</a:t>
            </a:r>
          </a:p>
        </p:txBody>
      </p:sp>
      <p:sp>
        <p:nvSpPr>
          <p:cNvPr id="18" name="Rectangle 17"/>
          <p:cNvSpPr/>
          <p:nvPr/>
        </p:nvSpPr>
        <p:spPr>
          <a:xfrm>
            <a:off x="0" y="6748272"/>
            <a:ext cx="4059936" cy="109728"/>
          </a:xfrm>
          <a:prstGeom prst="rect">
            <a:avLst/>
          </a:prstGeom>
          <a:solidFill>
            <a:srgbClr val="FF99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059936" y="6748272"/>
            <a:ext cx="4059936" cy="1097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119872" y="6748272"/>
            <a:ext cx="4069080" cy="109728"/>
          </a:xfrm>
          <a:prstGeom prst="rect">
            <a:avLst/>
          </a:prstGeom>
          <a:solidFill>
            <a:srgbClr val="1388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972800" cy="365760"/>
          </a:xfrm>
          <a:prstGeom prst="rect">
            <a:avLst/>
          </a:prstGeom>
          <a:noFill/>
        </p:spPr>
        <p:txBody>
          <a:bodyPr wrap="square">
            <a:spAutoFit/>
          </a:bodyPr>
          <a:lstStyle/>
          <a:p>
            <a:pPr algn="l"/>
            <a:r>
              <a:rPr sz="1100" b="1" i="0">
                <a:solidFill>
                  <a:srgbClr val="1B4F8A"/>
                </a:solidFill>
              </a:rPr>
              <a:t>The Problem</a:t>
            </a:r>
          </a:p>
        </p:txBody>
      </p:sp>
      <p:sp>
        <p:nvSpPr>
          <p:cNvPr id="4" name="TextBox 3"/>
          <p:cNvSpPr txBox="1"/>
          <p:nvPr/>
        </p:nvSpPr>
        <p:spPr>
          <a:xfrm>
            <a:off x="457200" y="457200"/>
            <a:ext cx="11274552" cy="731520"/>
          </a:xfrm>
          <a:prstGeom prst="rect">
            <a:avLst/>
          </a:prstGeom>
          <a:noFill/>
        </p:spPr>
        <p:txBody>
          <a:bodyPr wrap="square">
            <a:spAutoFit/>
          </a:bodyPr>
          <a:lstStyle/>
          <a:p>
            <a:pPr algn="l"/>
            <a:r>
              <a:rPr sz="2800" b="1" i="0">
                <a:solidFill>
                  <a:srgbClr val="0B2545"/>
                </a:solidFill>
              </a:rPr>
              <a:t>What Is Happening to Karnataka Citizens Today</a:t>
            </a:r>
          </a:p>
        </p:txBody>
      </p:sp>
      <p:sp>
        <p:nvSpPr>
          <p:cNvPr id="5" name="TextBox 4"/>
          <p:cNvSpPr txBox="1"/>
          <p:nvPr/>
        </p:nvSpPr>
        <p:spPr>
          <a:xfrm>
            <a:off x="457200" y="1097280"/>
            <a:ext cx="10972800" cy="411480"/>
          </a:xfrm>
          <a:prstGeom prst="rect">
            <a:avLst/>
          </a:prstGeom>
          <a:noFill/>
        </p:spPr>
        <p:txBody>
          <a:bodyPr wrap="square">
            <a:spAutoFit/>
          </a:bodyPr>
          <a:lstStyle/>
          <a:p>
            <a:pPr algn="l"/>
            <a:r>
              <a:rPr sz="1500" b="0" i="1">
                <a:solidFill>
                  <a:srgbClr val="787878"/>
                </a:solidFill>
              </a:rPr>
              <a:t>One search. Seven portals. Ten minutes. Done from home. No middlemen.</a:t>
            </a:r>
          </a:p>
        </p:txBody>
      </p:sp>
      <p:sp>
        <p:nvSpPr>
          <p:cNvPr id="6" name="Rectangle 5"/>
          <p:cNvSpPr/>
          <p:nvPr/>
        </p:nvSpPr>
        <p:spPr>
          <a:xfrm>
            <a:off x="457200" y="1600200"/>
            <a:ext cx="11274552" cy="1188720"/>
          </a:xfrm>
          <a:prstGeom prst="rect">
            <a:avLst/>
          </a:prstGeom>
          <a:solidFill>
            <a:srgbClr val="FFFDE7"/>
          </a:solidFill>
          <a:ln w="12700">
            <a:solidFill>
              <a:srgbClr val="FFE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645920"/>
            <a:ext cx="10972800" cy="320040"/>
          </a:xfrm>
          <a:prstGeom prst="rect">
            <a:avLst/>
          </a:prstGeom>
          <a:noFill/>
        </p:spPr>
        <p:txBody>
          <a:bodyPr wrap="square">
            <a:spAutoFit/>
          </a:bodyPr>
          <a:lstStyle/>
          <a:p>
            <a:pPr algn="l"/>
            <a:r>
              <a:rPr sz="1300" b="1" i="0">
                <a:solidFill>
                  <a:srgbClr val="0B2545"/>
                </a:solidFill>
              </a:rPr>
              <a:t>Raju — Farmer, Tumkur</a:t>
            </a:r>
          </a:p>
        </p:txBody>
      </p:sp>
      <p:sp>
        <p:nvSpPr>
          <p:cNvPr id="8" name="TextBox 7"/>
          <p:cNvSpPr txBox="1"/>
          <p:nvPr/>
        </p:nvSpPr>
        <p:spPr>
          <a:xfrm>
            <a:off x="640080" y="1920240"/>
            <a:ext cx="10972800" cy="731520"/>
          </a:xfrm>
          <a:prstGeom prst="rect">
            <a:avLst/>
          </a:prstGeom>
          <a:noFill/>
        </p:spPr>
        <p:txBody>
          <a:bodyPr wrap="square">
            <a:spAutoFit/>
          </a:bodyPr>
          <a:lstStyle/>
          <a:p>
            <a:pPr algn="l"/>
            <a:r>
              <a:rPr sz="1200" b="0" i="0">
                <a:solidFill>
                  <a:srgbClr val="505050"/>
                </a:solidFill>
              </a:rPr>
              <a:t>Paid ₹40 lakhs — family life savings — on 2 acres. Six months later: court summons. The land had 3 prior encumbrances in Bhoomi. He never checked. He did not know how. He lost everything.</a:t>
            </a:r>
          </a:p>
        </p:txBody>
      </p:sp>
      <p:sp>
        <p:nvSpPr>
          <p:cNvPr id="9" name="Rectangle 8"/>
          <p:cNvSpPr/>
          <p:nvPr/>
        </p:nvSpPr>
        <p:spPr>
          <a:xfrm>
            <a:off x="457200" y="2926080"/>
            <a:ext cx="11274552" cy="1188720"/>
          </a:xfrm>
          <a:prstGeom prst="rect">
            <a:avLst/>
          </a:prstGeom>
          <a:solidFill>
            <a:srgbClr val="FFFDE7"/>
          </a:solidFill>
          <a:ln w="12700">
            <a:solidFill>
              <a:srgbClr val="FFE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2971800"/>
            <a:ext cx="10972800" cy="320040"/>
          </a:xfrm>
          <a:prstGeom prst="rect">
            <a:avLst/>
          </a:prstGeom>
          <a:noFill/>
        </p:spPr>
        <p:txBody>
          <a:bodyPr wrap="square">
            <a:spAutoFit/>
          </a:bodyPr>
          <a:lstStyle/>
          <a:p>
            <a:pPr algn="l"/>
            <a:r>
              <a:rPr sz="1300" b="1" i="0">
                <a:solidFill>
                  <a:srgbClr val="0B2545"/>
                </a:solidFill>
              </a:rPr>
              <a:t>Savitha — Govt Teacher, Mysuru</a:t>
            </a:r>
          </a:p>
        </p:txBody>
      </p:sp>
      <p:sp>
        <p:nvSpPr>
          <p:cNvPr id="11" name="TextBox 10"/>
          <p:cNvSpPr txBox="1"/>
          <p:nvPr/>
        </p:nvSpPr>
        <p:spPr>
          <a:xfrm>
            <a:off x="640080" y="3246120"/>
            <a:ext cx="10972800" cy="731520"/>
          </a:xfrm>
          <a:prstGeom prst="rect">
            <a:avLst/>
          </a:prstGeom>
          <a:noFill/>
        </p:spPr>
        <p:txBody>
          <a:bodyPr wrap="square">
            <a:spAutoFit/>
          </a:bodyPr>
          <a:lstStyle/>
          <a:p>
            <a:pPr algn="l"/>
            <a:r>
              <a:rPr sz="1200" b="0" i="0">
                <a:solidFill>
                  <a:srgbClr val="505050"/>
                </a:solidFill>
              </a:rPr>
              <a:t>Bought ₹32 lakh flat with PF savings. Builder said 'all approvals done.' Two years later: no RERA registration, active court dispute. Bank filed recovery. She pays EMI on a flat she may lose.</a:t>
            </a:r>
          </a:p>
        </p:txBody>
      </p:sp>
      <p:sp>
        <p:nvSpPr>
          <p:cNvPr id="12" name="Rectangle 11"/>
          <p:cNvSpPr/>
          <p:nvPr/>
        </p:nvSpPr>
        <p:spPr>
          <a:xfrm>
            <a:off x="457200" y="4251960"/>
            <a:ext cx="11274552" cy="1188720"/>
          </a:xfrm>
          <a:prstGeom prst="rect">
            <a:avLst/>
          </a:prstGeom>
          <a:solidFill>
            <a:srgbClr val="FFFDE7"/>
          </a:solidFill>
          <a:ln w="12700">
            <a:solidFill>
              <a:srgbClr val="FFE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4297680"/>
            <a:ext cx="10972800" cy="320040"/>
          </a:xfrm>
          <a:prstGeom prst="rect">
            <a:avLst/>
          </a:prstGeom>
          <a:noFill/>
        </p:spPr>
        <p:txBody>
          <a:bodyPr wrap="square">
            <a:spAutoFit/>
          </a:bodyPr>
          <a:lstStyle/>
          <a:p>
            <a:pPr algn="l"/>
            <a:r>
              <a:rPr sz="1300" b="1" i="0">
                <a:solidFill>
                  <a:srgbClr val="0B2545"/>
                </a:solidFill>
              </a:rPr>
              <a:t>Suresh — NRI Engineer, Dubai</a:t>
            </a:r>
          </a:p>
        </p:txBody>
      </p:sp>
      <p:sp>
        <p:nvSpPr>
          <p:cNvPr id="14" name="TextBox 13"/>
          <p:cNvSpPr txBox="1"/>
          <p:nvPr/>
        </p:nvSpPr>
        <p:spPr>
          <a:xfrm>
            <a:off x="640080" y="4572000"/>
            <a:ext cx="10972800" cy="731520"/>
          </a:xfrm>
          <a:prstGeom prst="rect">
            <a:avLst/>
          </a:prstGeom>
          <a:noFill/>
        </p:spPr>
        <p:txBody>
          <a:bodyPr wrap="square">
            <a:spAutoFit/>
          </a:bodyPr>
          <a:lstStyle/>
          <a:p>
            <a:pPr algn="l"/>
            <a:r>
              <a:rPr sz="1200" b="0" i="0">
                <a:solidFill>
                  <a:srgbClr val="505050"/>
                </a:solidFill>
              </a:rPr>
              <a:t>Sent ₹22 lakhs for a plot in Dharwad. Could not visit India. Trusted the broker. Title was forged — visible in IGRS records. Could not check from UAE. Lost everything. Case still in court.</a:t>
            </a:r>
          </a:p>
        </p:txBody>
      </p:sp>
      <p:sp>
        <p:nvSpPr>
          <p:cNvPr id="15" name="Rectangle 14"/>
          <p:cNvSpPr/>
          <p:nvPr/>
        </p:nvSpPr>
        <p:spPr>
          <a:xfrm>
            <a:off x="457200" y="5623560"/>
            <a:ext cx="11274552" cy="685800"/>
          </a:xfrm>
          <a:prstGeom prst="rect">
            <a:avLst/>
          </a:prstGeom>
          <a:solidFill>
            <a:srgbClr val="FFEBEE"/>
          </a:solidFill>
          <a:ln w="12700">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5669280"/>
            <a:ext cx="10972800" cy="594360"/>
          </a:xfrm>
          <a:prstGeom prst="rect">
            <a:avLst/>
          </a:prstGeom>
          <a:noFill/>
        </p:spPr>
        <p:txBody>
          <a:bodyPr wrap="square">
            <a:spAutoFit/>
          </a:bodyPr>
          <a:lstStyle/>
          <a:p>
            <a:pPr algn="l"/>
            <a:r>
              <a:rPr sz="1300" b="1" i="0">
                <a:solidFill>
                  <a:srgbClr val="7B1A1A"/>
                </a:solidFill>
              </a:rPr>
              <a:t>Karnataka: 1.2 crore property transactions/year.  90% of buyers verify NOTHING before paying.  The government has the data. The citizen cannot reach it.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972800" cy="365760"/>
          </a:xfrm>
          <a:prstGeom prst="rect">
            <a:avLst/>
          </a:prstGeom>
          <a:noFill/>
        </p:spPr>
        <p:txBody>
          <a:bodyPr wrap="square">
            <a:spAutoFit/>
          </a:bodyPr>
          <a:lstStyle/>
          <a:p>
            <a:pPr algn="l"/>
            <a:r>
              <a:rPr sz="1100" b="1" i="0">
                <a:solidFill>
                  <a:srgbClr val="1B4F8A"/>
                </a:solidFill>
              </a:rPr>
              <a:t>The Solution</a:t>
            </a:r>
          </a:p>
        </p:txBody>
      </p:sp>
      <p:sp>
        <p:nvSpPr>
          <p:cNvPr id="4" name="TextBox 3"/>
          <p:cNvSpPr txBox="1"/>
          <p:nvPr/>
        </p:nvSpPr>
        <p:spPr>
          <a:xfrm>
            <a:off x="457200" y="457200"/>
            <a:ext cx="11274552" cy="731520"/>
          </a:xfrm>
          <a:prstGeom prst="rect">
            <a:avLst/>
          </a:prstGeom>
          <a:noFill/>
        </p:spPr>
        <p:txBody>
          <a:bodyPr wrap="square">
            <a:spAutoFit/>
          </a:bodyPr>
          <a:lstStyle/>
          <a:p>
            <a:pPr algn="l"/>
            <a:r>
              <a:rPr sz="2800" b="1" i="0">
                <a:solidFill>
                  <a:srgbClr val="0B2545"/>
                </a:solidFill>
              </a:rPr>
              <a:t>What DigiSampatti Does — 5 Steps, From Home</a:t>
            </a:r>
          </a:p>
        </p:txBody>
      </p:sp>
      <p:sp>
        <p:nvSpPr>
          <p:cNvPr id="5" name="Rectangle 4"/>
          <p:cNvSpPr/>
          <p:nvPr/>
        </p:nvSpPr>
        <p:spPr>
          <a:xfrm>
            <a:off x="457200" y="1234440"/>
            <a:ext cx="502920" cy="822960"/>
          </a:xfrm>
          <a:prstGeom prst="rect">
            <a:avLst/>
          </a:prstGeom>
          <a:solidFill>
            <a:srgbClr val="1B4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325880"/>
            <a:ext cx="502920" cy="640080"/>
          </a:xfrm>
          <a:prstGeom prst="rect">
            <a:avLst/>
          </a:prstGeom>
          <a:noFill/>
        </p:spPr>
        <p:txBody>
          <a:bodyPr wrap="square">
            <a:spAutoFit/>
          </a:bodyPr>
          <a:lstStyle/>
          <a:p>
            <a:pPr algn="ctr"/>
            <a:r>
              <a:rPr sz="2200" b="1" i="0">
                <a:solidFill>
                  <a:srgbClr val="FFFFFF"/>
                </a:solidFill>
              </a:rPr>
              <a:t>1</a:t>
            </a:r>
          </a:p>
        </p:txBody>
      </p:sp>
      <p:sp>
        <p:nvSpPr>
          <p:cNvPr id="7" name="Rectangle 6"/>
          <p:cNvSpPr/>
          <p:nvPr/>
        </p:nvSpPr>
        <p:spPr>
          <a:xfrm>
            <a:off x="1051560" y="1234440"/>
            <a:ext cx="10680192" cy="822960"/>
          </a:xfrm>
          <a:prstGeom prst="rect">
            <a:avLst/>
          </a:prstGeom>
          <a:solidFill>
            <a:srgbClr val="F4F7FC"/>
          </a:solidFill>
          <a:ln w="12700">
            <a:solidFill>
              <a:srgbClr val="D0DC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43000" y="1252728"/>
            <a:ext cx="10424160" cy="320040"/>
          </a:xfrm>
          <a:prstGeom prst="rect">
            <a:avLst/>
          </a:prstGeom>
          <a:noFill/>
        </p:spPr>
        <p:txBody>
          <a:bodyPr wrap="square">
            <a:spAutoFit/>
          </a:bodyPr>
          <a:lstStyle/>
          <a:p>
            <a:pPr algn="l"/>
            <a:r>
              <a:rPr sz="1300" b="1" i="0">
                <a:solidFill>
                  <a:srgbClr val="0B2545"/>
                </a:solidFill>
              </a:rPr>
              <a:t>No Login to 7 Portals — One Search</a:t>
            </a:r>
          </a:p>
        </p:txBody>
      </p:sp>
      <p:sp>
        <p:nvSpPr>
          <p:cNvPr id="9" name="TextBox 8"/>
          <p:cNvSpPr txBox="1"/>
          <p:nvPr/>
        </p:nvSpPr>
        <p:spPr>
          <a:xfrm>
            <a:off x="1143000" y="1581912"/>
            <a:ext cx="10424160" cy="438912"/>
          </a:xfrm>
          <a:prstGeom prst="rect">
            <a:avLst/>
          </a:prstGeom>
          <a:noFill/>
        </p:spPr>
        <p:txBody>
          <a:bodyPr wrap="square">
            <a:spAutoFit/>
          </a:bodyPr>
          <a:lstStyle/>
          <a:p>
            <a:pPr algn="l"/>
            <a:r>
              <a:rPr sz="1100" b="0" i="0">
                <a:solidFill>
                  <a:srgbClr val="505050"/>
                </a:solidFill>
              </a:rPr>
              <a:t>Enter survey number OR scan document photo OR stand on land (GPS). DigiSampatti handles all 7 portals automatically. No visiting any government website.</a:t>
            </a:r>
          </a:p>
        </p:txBody>
      </p:sp>
      <p:sp>
        <p:nvSpPr>
          <p:cNvPr id="10" name="Rectangle 9"/>
          <p:cNvSpPr/>
          <p:nvPr/>
        </p:nvSpPr>
        <p:spPr>
          <a:xfrm>
            <a:off x="457200" y="2240280"/>
            <a:ext cx="502920" cy="822960"/>
          </a:xfrm>
          <a:prstGeom prst="rect">
            <a:avLst/>
          </a:prstGeom>
          <a:solidFill>
            <a:srgbClr val="1B4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2331720"/>
            <a:ext cx="502920" cy="640080"/>
          </a:xfrm>
          <a:prstGeom prst="rect">
            <a:avLst/>
          </a:prstGeom>
          <a:noFill/>
        </p:spPr>
        <p:txBody>
          <a:bodyPr wrap="square">
            <a:spAutoFit/>
          </a:bodyPr>
          <a:lstStyle/>
          <a:p>
            <a:pPr algn="ctr"/>
            <a:r>
              <a:rPr sz="2200" b="1" i="0">
                <a:solidFill>
                  <a:srgbClr val="FFFFFF"/>
                </a:solidFill>
              </a:rPr>
              <a:t>2</a:t>
            </a:r>
          </a:p>
        </p:txBody>
      </p:sp>
      <p:sp>
        <p:nvSpPr>
          <p:cNvPr id="12" name="Rectangle 11"/>
          <p:cNvSpPr/>
          <p:nvPr/>
        </p:nvSpPr>
        <p:spPr>
          <a:xfrm>
            <a:off x="1051560" y="2240280"/>
            <a:ext cx="10680192" cy="822960"/>
          </a:xfrm>
          <a:prstGeom prst="rect">
            <a:avLst/>
          </a:prstGeom>
          <a:solidFill>
            <a:srgbClr val="F4F7FC"/>
          </a:solidFill>
          <a:ln w="12700">
            <a:solidFill>
              <a:srgbClr val="D0DC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43000" y="2258568"/>
            <a:ext cx="10424160" cy="320040"/>
          </a:xfrm>
          <a:prstGeom prst="rect">
            <a:avLst/>
          </a:prstGeom>
          <a:noFill/>
        </p:spPr>
        <p:txBody>
          <a:bodyPr wrap="square">
            <a:spAutoFit/>
          </a:bodyPr>
          <a:lstStyle/>
          <a:p>
            <a:pPr algn="l"/>
            <a:r>
              <a:rPr sz="1300" b="1" i="0">
                <a:solidFill>
                  <a:srgbClr val="0B2545"/>
                </a:solidFill>
              </a:rPr>
              <a:t>Documents Retrieved Simultaneously</a:t>
            </a:r>
          </a:p>
        </p:txBody>
      </p:sp>
      <p:sp>
        <p:nvSpPr>
          <p:cNvPr id="14" name="TextBox 13"/>
          <p:cNvSpPr txBox="1"/>
          <p:nvPr/>
        </p:nvSpPr>
        <p:spPr>
          <a:xfrm>
            <a:off x="1143000" y="2587752"/>
            <a:ext cx="10424160" cy="438912"/>
          </a:xfrm>
          <a:prstGeom prst="rect">
            <a:avLst/>
          </a:prstGeom>
          <a:noFill/>
        </p:spPr>
        <p:txBody>
          <a:bodyPr wrap="square">
            <a:spAutoFit/>
          </a:bodyPr>
          <a:lstStyle/>
          <a:p>
            <a:pPr algn="l"/>
            <a:r>
              <a:rPr sz="1100" b="0" i="0">
                <a:solidFill>
                  <a:srgbClr val="505050"/>
                </a:solidFill>
              </a:rPr>
              <a:t>All 7 portal records retrieved at the same moment for one property. This alone is impossible to do manually — by the time you collect document 7, document 1 may have changed.</a:t>
            </a:r>
          </a:p>
        </p:txBody>
      </p:sp>
      <p:sp>
        <p:nvSpPr>
          <p:cNvPr id="15" name="Rectangle 14"/>
          <p:cNvSpPr/>
          <p:nvPr/>
        </p:nvSpPr>
        <p:spPr>
          <a:xfrm>
            <a:off x="457200" y="3246120"/>
            <a:ext cx="502920" cy="822960"/>
          </a:xfrm>
          <a:prstGeom prst="rect">
            <a:avLst/>
          </a:prstGeom>
          <a:solidFill>
            <a:srgbClr val="1B4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3337560"/>
            <a:ext cx="502920" cy="640080"/>
          </a:xfrm>
          <a:prstGeom prst="rect">
            <a:avLst/>
          </a:prstGeom>
          <a:noFill/>
        </p:spPr>
        <p:txBody>
          <a:bodyPr wrap="square">
            <a:spAutoFit/>
          </a:bodyPr>
          <a:lstStyle/>
          <a:p>
            <a:pPr algn="ctr"/>
            <a:r>
              <a:rPr sz="2200" b="1" i="0">
                <a:solidFill>
                  <a:srgbClr val="FFFFFF"/>
                </a:solidFill>
              </a:rPr>
              <a:t>3</a:t>
            </a:r>
          </a:p>
        </p:txBody>
      </p:sp>
      <p:sp>
        <p:nvSpPr>
          <p:cNvPr id="17" name="Rectangle 16"/>
          <p:cNvSpPr/>
          <p:nvPr/>
        </p:nvSpPr>
        <p:spPr>
          <a:xfrm>
            <a:off x="1051560" y="3246120"/>
            <a:ext cx="10680192" cy="822960"/>
          </a:xfrm>
          <a:prstGeom prst="rect">
            <a:avLst/>
          </a:prstGeom>
          <a:solidFill>
            <a:srgbClr val="F4F7FC"/>
          </a:solidFill>
          <a:ln w="12700">
            <a:solidFill>
              <a:srgbClr val="D0DC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143000" y="3264408"/>
            <a:ext cx="10424160" cy="320040"/>
          </a:xfrm>
          <a:prstGeom prst="rect">
            <a:avLst/>
          </a:prstGeom>
          <a:noFill/>
        </p:spPr>
        <p:txBody>
          <a:bodyPr wrap="square">
            <a:spAutoFit/>
          </a:bodyPr>
          <a:lstStyle/>
          <a:p>
            <a:pPr algn="l"/>
            <a:r>
              <a:rPr sz="1300" b="1" i="0">
                <a:solidFill>
                  <a:srgbClr val="0B2545"/>
                </a:solidFill>
              </a:rPr>
              <a:t>Timestamped Proof — Stored Securely</a:t>
            </a:r>
          </a:p>
        </p:txBody>
      </p:sp>
      <p:sp>
        <p:nvSpPr>
          <p:cNvPr id="19" name="TextBox 18"/>
          <p:cNvSpPr txBox="1"/>
          <p:nvPr/>
        </p:nvSpPr>
        <p:spPr>
          <a:xfrm>
            <a:off x="1143000" y="3593592"/>
            <a:ext cx="10424160" cy="438912"/>
          </a:xfrm>
          <a:prstGeom prst="rect">
            <a:avLst/>
          </a:prstGeom>
          <a:noFill/>
        </p:spPr>
        <p:txBody>
          <a:bodyPr wrap="square">
            <a:spAutoFit/>
          </a:bodyPr>
          <a:lstStyle/>
          <a:p>
            <a:pPr algn="l"/>
            <a:r>
              <a:rPr sz="1100" b="0" i="0">
                <a:solidFill>
                  <a:srgbClr val="505050"/>
                </a:solidFill>
              </a:rPr>
              <a:t>Encrypted, timestamped snapshot created instantly. This is your legal proof of due diligence — court-admissible. Stored 30 days on our servers, yours forever on your phone.</a:t>
            </a:r>
          </a:p>
        </p:txBody>
      </p:sp>
      <p:sp>
        <p:nvSpPr>
          <p:cNvPr id="20" name="Rectangle 19"/>
          <p:cNvSpPr/>
          <p:nvPr/>
        </p:nvSpPr>
        <p:spPr>
          <a:xfrm>
            <a:off x="457200" y="4251960"/>
            <a:ext cx="502920" cy="822960"/>
          </a:xfrm>
          <a:prstGeom prst="rect">
            <a:avLst/>
          </a:prstGeom>
          <a:solidFill>
            <a:srgbClr val="1B4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4343400"/>
            <a:ext cx="502920" cy="640080"/>
          </a:xfrm>
          <a:prstGeom prst="rect">
            <a:avLst/>
          </a:prstGeom>
          <a:noFill/>
        </p:spPr>
        <p:txBody>
          <a:bodyPr wrap="square">
            <a:spAutoFit/>
          </a:bodyPr>
          <a:lstStyle/>
          <a:p>
            <a:pPr algn="ctr"/>
            <a:r>
              <a:rPr sz="2200" b="1" i="0">
                <a:solidFill>
                  <a:srgbClr val="FFFFFF"/>
                </a:solidFill>
              </a:rPr>
              <a:t>4</a:t>
            </a:r>
          </a:p>
        </p:txBody>
      </p:sp>
      <p:sp>
        <p:nvSpPr>
          <p:cNvPr id="22" name="Rectangle 21"/>
          <p:cNvSpPr/>
          <p:nvPr/>
        </p:nvSpPr>
        <p:spPr>
          <a:xfrm>
            <a:off x="1051560" y="4251960"/>
            <a:ext cx="10680192" cy="822960"/>
          </a:xfrm>
          <a:prstGeom prst="rect">
            <a:avLst/>
          </a:prstGeom>
          <a:solidFill>
            <a:srgbClr val="F4F7FC"/>
          </a:solidFill>
          <a:ln w="12700">
            <a:solidFill>
              <a:srgbClr val="D0DC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143000" y="4270248"/>
            <a:ext cx="10424160" cy="320040"/>
          </a:xfrm>
          <a:prstGeom prst="rect">
            <a:avLst/>
          </a:prstGeom>
          <a:noFill/>
        </p:spPr>
        <p:txBody>
          <a:bodyPr wrap="square">
            <a:spAutoFit/>
          </a:bodyPr>
          <a:lstStyle/>
          <a:p>
            <a:pPr algn="l"/>
            <a:r>
              <a:rPr sz="1300" b="1" i="0">
                <a:solidFill>
                  <a:srgbClr val="0B2545"/>
                </a:solidFill>
              </a:rPr>
              <a:t>Cross-Portal Contradiction Detection</a:t>
            </a:r>
          </a:p>
        </p:txBody>
      </p:sp>
      <p:sp>
        <p:nvSpPr>
          <p:cNvPr id="24" name="TextBox 23"/>
          <p:cNvSpPr txBox="1"/>
          <p:nvPr/>
        </p:nvSpPr>
        <p:spPr>
          <a:xfrm>
            <a:off x="1143000" y="4599432"/>
            <a:ext cx="10424160" cy="438912"/>
          </a:xfrm>
          <a:prstGeom prst="rect">
            <a:avLst/>
          </a:prstGeom>
          <a:noFill/>
        </p:spPr>
        <p:txBody>
          <a:bodyPr wrap="square">
            <a:spAutoFit/>
          </a:bodyPr>
          <a:lstStyle/>
          <a:p>
            <a:pPr algn="l"/>
            <a:r>
              <a:rPr sz="1100" b="0" i="0">
                <a:solidFill>
                  <a:srgbClr val="505050"/>
                </a:solidFill>
              </a:rPr>
              <a:t>All 7 documents read against each other. Fraud lives in the gap between portals — not inside any one portal. 47 Karnataka land law rules applied automatically.</a:t>
            </a:r>
          </a:p>
        </p:txBody>
      </p:sp>
      <p:sp>
        <p:nvSpPr>
          <p:cNvPr id="25" name="Rectangle 24"/>
          <p:cNvSpPr/>
          <p:nvPr/>
        </p:nvSpPr>
        <p:spPr>
          <a:xfrm>
            <a:off x="457200" y="5257800"/>
            <a:ext cx="502920" cy="822960"/>
          </a:xfrm>
          <a:prstGeom prst="rect">
            <a:avLst/>
          </a:prstGeom>
          <a:solidFill>
            <a:srgbClr val="1B4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7200" y="5349240"/>
            <a:ext cx="502920" cy="640080"/>
          </a:xfrm>
          <a:prstGeom prst="rect">
            <a:avLst/>
          </a:prstGeom>
          <a:noFill/>
        </p:spPr>
        <p:txBody>
          <a:bodyPr wrap="square">
            <a:spAutoFit/>
          </a:bodyPr>
          <a:lstStyle/>
          <a:p>
            <a:pPr algn="ctr"/>
            <a:r>
              <a:rPr sz="2200" b="1" i="0">
                <a:solidFill>
                  <a:srgbClr val="FFFFFF"/>
                </a:solidFill>
              </a:rPr>
              <a:t>5</a:t>
            </a:r>
          </a:p>
        </p:txBody>
      </p:sp>
      <p:sp>
        <p:nvSpPr>
          <p:cNvPr id="27" name="Rectangle 26"/>
          <p:cNvSpPr/>
          <p:nvPr/>
        </p:nvSpPr>
        <p:spPr>
          <a:xfrm>
            <a:off x="1051560" y="5257800"/>
            <a:ext cx="10680192" cy="822960"/>
          </a:xfrm>
          <a:prstGeom prst="rect">
            <a:avLst/>
          </a:prstGeom>
          <a:solidFill>
            <a:srgbClr val="F4F7FC"/>
          </a:solidFill>
          <a:ln w="12700">
            <a:solidFill>
              <a:srgbClr val="D0DC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143000" y="5276088"/>
            <a:ext cx="10424160" cy="320040"/>
          </a:xfrm>
          <a:prstGeom prst="rect">
            <a:avLst/>
          </a:prstGeom>
          <a:noFill/>
        </p:spPr>
        <p:txBody>
          <a:bodyPr wrap="square">
            <a:spAutoFit/>
          </a:bodyPr>
          <a:lstStyle/>
          <a:p>
            <a:pPr algn="l"/>
            <a:r>
              <a:rPr sz="1300" b="1" i="0">
                <a:solidFill>
                  <a:srgbClr val="0B2545"/>
                </a:solidFill>
              </a:rPr>
              <a:t>One Verdict in Plain Kannada — SAFE / CAUTION / DO NOT BUY</a:t>
            </a:r>
          </a:p>
        </p:txBody>
      </p:sp>
      <p:sp>
        <p:nvSpPr>
          <p:cNvPr id="29" name="TextBox 28"/>
          <p:cNvSpPr txBox="1"/>
          <p:nvPr/>
        </p:nvSpPr>
        <p:spPr>
          <a:xfrm>
            <a:off x="1143000" y="5605272"/>
            <a:ext cx="10424160" cy="438912"/>
          </a:xfrm>
          <a:prstGeom prst="rect">
            <a:avLst/>
          </a:prstGeom>
          <a:noFill/>
        </p:spPr>
        <p:txBody>
          <a:bodyPr wrap="square">
            <a:spAutoFit/>
          </a:bodyPr>
          <a:lstStyle/>
          <a:p>
            <a:pPr algn="l"/>
            <a:r>
              <a:rPr sz="1100" b="0" i="0">
                <a:solidFill>
                  <a:srgbClr val="505050"/>
                </a:solidFill>
              </a:rPr>
              <a:t>The farmer in Tumkur does not need 7 PDFs. He needs one decision. DigiSampatti gives him that in 10 minutes for ₹99 — before paying ₹7 lakh in stamp duty.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972800" cy="365760"/>
          </a:xfrm>
          <a:prstGeom prst="rect">
            <a:avLst/>
          </a:prstGeom>
          <a:noFill/>
        </p:spPr>
        <p:txBody>
          <a:bodyPr wrap="square">
            <a:spAutoFit/>
          </a:bodyPr>
          <a:lstStyle/>
          <a:p>
            <a:pPr algn="l"/>
            <a:r>
              <a:rPr sz="1100" b="1" i="0">
                <a:solidFill>
                  <a:srgbClr val="1B4F8A"/>
                </a:solidFill>
              </a:rPr>
              <a:t>The Ecosystem</a:t>
            </a:r>
          </a:p>
        </p:txBody>
      </p:sp>
      <p:sp>
        <p:nvSpPr>
          <p:cNvPr id="4" name="TextBox 3"/>
          <p:cNvSpPr txBox="1"/>
          <p:nvPr/>
        </p:nvSpPr>
        <p:spPr>
          <a:xfrm>
            <a:off x="457200" y="457200"/>
            <a:ext cx="11274552" cy="640080"/>
          </a:xfrm>
          <a:prstGeom prst="rect">
            <a:avLst/>
          </a:prstGeom>
          <a:noFill/>
        </p:spPr>
        <p:txBody>
          <a:bodyPr wrap="square">
            <a:spAutoFit/>
          </a:bodyPr>
          <a:lstStyle/>
          <a:p>
            <a:pPr algn="l"/>
            <a:r>
              <a:rPr sz="2800" b="1" i="0">
                <a:solidFill>
                  <a:srgbClr val="0B2545"/>
                </a:solidFill>
              </a:rPr>
              <a:t>7 Government Systems — Connected for the First Time</a:t>
            </a:r>
          </a:p>
        </p:txBody>
      </p:sp>
      <p:sp>
        <p:nvSpPr>
          <p:cNvPr id="5" name="TextBox 4"/>
          <p:cNvSpPr txBox="1"/>
          <p:nvPr/>
        </p:nvSpPr>
        <p:spPr>
          <a:xfrm>
            <a:off x="457200" y="1051560"/>
            <a:ext cx="11274552" cy="411480"/>
          </a:xfrm>
          <a:prstGeom prst="rect">
            <a:avLst/>
          </a:prstGeom>
          <a:noFill/>
        </p:spPr>
        <p:txBody>
          <a:bodyPr wrap="square">
            <a:spAutoFit/>
          </a:bodyPr>
          <a:lstStyle/>
          <a:p>
            <a:pPr algn="l"/>
            <a:r>
              <a:rPr sz="1300" b="0" i="1">
                <a:solidFill>
                  <a:srgbClr val="646464"/>
                </a:solidFill>
              </a:rPr>
              <a:t>No citizen can check all 7 manually. No government portal links them. DigiSampatti cross-references all 7 simultaneously.</a:t>
            </a:r>
          </a:p>
        </p:txBody>
      </p:sp>
      <p:graphicFrame>
        <p:nvGraphicFramePr>
          <p:cNvPr id="6" name="Table 5"/>
          <p:cNvGraphicFramePr>
            <a:graphicFrameLocks noGrp="1"/>
          </p:cNvGraphicFramePr>
          <p:nvPr/>
        </p:nvGraphicFramePr>
        <p:xfrm>
          <a:off x="457200" y="1508760"/>
          <a:ext cx="11274552" cy="4754880"/>
        </p:xfrm>
        <a:graphic>
          <a:graphicData uri="http://schemas.openxmlformats.org/drawingml/2006/table">
            <a:tbl>
              <a:tblPr firstRow="1" bandRow="1">
                <a:tableStyleId>{5C22544A-7EE6-4342-B048-85BDC9FD1C3A}</a:tableStyleId>
              </a:tblPr>
              <a:tblGrid>
                <a:gridCol w="3758184"/>
                <a:gridCol w="3758184"/>
                <a:gridCol w="3758184"/>
              </a:tblGrid>
              <a:tr h="594360">
                <a:tc>
                  <a:txBody>
                    <a:bodyPr/>
                    <a:lstStyle/>
                    <a:p>
                      <a:pPr algn="l"/>
                      <a:r>
                        <a:rPr b="1" sz="1100">
                          <a:solidFill>
                            <a:srgbClr val="FFFFFF"/>
                          </a:solidFill>
                        </a:rPr>
                        <a:t>Portal</a:t>
                      </a:r>
                    </a:p>
                  </a:txBody>
                  <a:tcPr>
                    <a:solidFill>
                      <a:srgbClr val="0B2545"/>
                    </a:solidFill>
                  </a:tcPr>
                </a:tc>
                <a:tc>
                  <a:txBody>
                    <a:bodyPr/>
                    <a:lstStyle/>
                    <a:p>
                      <a:pPr algn="l"/>
                      <a:r>
                        <a:rPr b="1" sz="1100">
                          <a:solidFill>
                            <a:srgbClr val="FFFFFF"/>
                          </a:solidFill>
                        </a:rPr>
                        <a:t>What We Check</a:t>
                      </a:r>
                    </a:p>
                  </a:txBody>
                  <a:tcPr>
                    <a:solidFill>
                      <a:srgbClr val="0B2545"/>
                    </a:solidFill>
                  </a:tcPr>
                </a:tc>
                <a:tc>
                  <a:txBody>
                    <a:bodyPr/>
                    <a:lstStyle/>
                    <a:p>
                      <a:pPr algn="l"/>
                      <a:r>
                        <a:rPr b="1" sz="1100">
                          <a:solidFill>
                            <a:srgbClr val="FFFFFF"/>
                          </a:solidFill>
                        </a:rPr>
                        <a:t>What Citizens Miss Without DigiSampatti</a:t>
                      </a:r>
                    </a:p>
                  </a:txBody>
                  <a:tcPr>
                    <a:solidFill>
                      <a:srgbClr val="0B2545"/>
                    </a:solidFill>
                  </a:tcPr>
                </a:tc>
              </a:tr>
              <a:tr h="594360">
                <a:tc>
                  <a:txBody>
                    <a:bodyPr/>
                    <a:lstStyle/>
                    <a:p>
                      <a:pPr algn="l"/>
                      <a:r>
                        <a:rPr sz="1100">
                          <a:solidFill>
                            <a:srgbClr val="3C3C3C"/>
                          </a:solidFill>
                        </a:rPr>
                        <a:t>Bhoomi (Revenue Dept)</a:t>
                      </a:r>
                    </a:p>
                  </a:txBody>
                  <a:tcPr>
                    <a:solidFill>
                      <a:srgbClr val="FFFFFF"/>
                    </a:solidFill>
                  </a:tcPr>
                </a:tc>
                <a:tc>
                  <a:txBody>
                    <a:bodyPr/>
                    <a:lstStyle/>
                    <a:p>
                      <a:pPr algn="l"/>
                      <a:r>
                        <a:rPr sz="1100">
                          <a:solidFill>
                            <a:srgbClr val="3C3C3C"/>
                          </a:solidFill>
                        </a:rPr>
                        <a:t>Title, mutations, govt acquisition, PTCL restrictions</a:t>
                      </a:r>
                    </a:p>
                  </a:txBody>
                  <a:tcPr>
                    <a:solidFill>
                      <a:srgbClr val="FFFFFF"/>
                    </a:solidFill>
                  </a:tcPr>
                </a:tc>
                <a:tc>
                  <a:txBody>
                    <a:bodyPr/>
                    <a:lstStyle/>
                    <a:p>
                      <a:pPr algn="l"/>
                      <a:r>
                        <a:rPr sz="1100">
                          <a:solidFill>
                            <a:srgbClr val="3C3C3C"/>
                          </a:solidFill>
                        </a:rPr>
                        <a:t>Column 11/12 meaning, SC/ST violations, incomplete mutations</a:t>
                      </a:r>
                    </a:p>
                  </a:txBody>
                  <a:tcPr>
                    <a:solidFill>
                      <a:srgbClr val="FFFFFF"/>
                    </a:solidFill>
                  </a:tcPr>
                </a:tc>
              </a:tr>
              <a:tr h="594360">
                <a:tc>
                  <a:txBody>
                    <a:bodyPr/>
                    <a:lstStyle/>
                    <a:p>
                      <a:pPr algn="l"/>
                      <a:r>
                        <a:rPr sz="1100">
                          <a:solidFill>
                            <a:srgbClr val="3C3C3C"/>
                          </a:solidFill>
                        </a:rPr>
                        <a:t>IGRS / KAVERI</a:t>
                      </a:r>
                    </a:p>
                  </a:txBody>
                  <a:tcPr>
                    <a:solidFill>
                      <a:srgbClr val="F4F7FC"/>
                    </a:solidFill>
                  </a:tcPr>
                </a:tc>
                <a:tc>
                  <a:txBody>
                    <a:bodyPr/>
                    <a:lstStyle/>
                    <a:p>
                      <a:pPr algn="l"/>
                      <a:r>
                        <a:rPr sz="1100">
                          <a:solidFill>
                            <a:srgbClr val="3C3C3C"/>
                          </a:solidFill>
                        </a:rPr>
                        <a:t>Encumbrance Certificate — all loans and charges</a:t>
                      </a:r>
                    </a:p>
                  </a:txBody>
                  <a:tcPr>
                    <a:solidFill>
                      <a:srgbClr val="F4F7FC"/>
                    </a:solidFill>
                  </a:tcPr>
                </a:tc>
                <a:tc>
                  <a:txBody>
                    <a:bodyPr/>
                    <a:lstStyle/>
                    <a:p>
                      <a:pPr algn="l"/>
                      <a:r>
                        <a:rPr sz="1100">
                          <a:solidFill>
                            <a:srgbClr val="3C3C3C"/>
                          </a:solidFill>
                        </a:rPr>
                        <a:t>Hidden mortgages, uncleared loans, multiple sale deeds</a:t>
                      </a:r>
                    </a:p>
                  </a:txBody>
                  <a:tcPr>
                    <a:solidFill>
                      <a:srgbClr val="F4F7FC"/>
                    </a:solidFill>
                  </a:tcPr>
                </a:tc>
              </a:tr>
              <a:tr h="594360">
                <a:tc>
                  <a:txBody>
                    <a:bodyPr/>
                    <a:lstStyle/>
                    <a:p>
                      <a:pPr algn="l"/>
                      <a:r>
                        <a:rPr sz="1100">
                          <a:solidFill>
                            <a:srgbClr val="3C3C3C"/>
                          </a:solidFill>
                        </a:rPr>
                        <a:t>RERA Karnataka</a:t>
                      </a:r>
                    </a:p>
                  </a:txBody>
                  <a:tcPr>
                    <a:solidFill>
                      <a:srgbClr val="FFFFFF"/>
                    </a:solidFill>
                  </a:tcPr>
                </a:tc>
                <a:tc>
                  <a:txBody>
                    <a:bodyPr/>
                    <a:lstStyle/>
                    <a:p>
                      <a:pPr algn="l"/>
                      <a:r>
                        <a:rPr sz="1100">
                          <a:solidFill>
                            <a:srgbClr val="3C3C3C"/>
                          </a:solidFill>
                        </a:rPr>
                        <a:t>Builder registration, project approval, complaints</a:t>
                      </a:r>
                    </a:p>
                  </a:txBody>
                  <a:tcPr>
                    <a:solidFill>
                      <a:srgbClr val="FFFFFF"/>
                    </a:solidFill>
                  </a:tcPr>
                </a:tc>
                <a:tc>
                  <a:txBody>
                    <a:bodyPr/>
                    <a:lstStyle/>
                    <a:p>
                      <a:pPr algn="l"/>
                      <a:r>
                        <a:rPr sz="1100">
                          <a:solidFill>
                            <a:srgbClr val="3C3C3C"/>
                          </a:solidFill>
                        </a:rPr>
                        <a:t>Unregistered projects, RERA vs Bhoomi land-type contradiction</a:t>
                      </a:r>
                    </a:p>
                  </a:txBody>
                  <a:tcPr>
                    <a:solidFill>
                      <a:srgbClr val="FFFFFF"/>
                    </a:solidFill>
                  </a:tcPr>
                </a:tc>
              </a:tr>
              <a:tr h="594360">
                <a:tc>
                  <a:txBody>
                    <a:bodyPr/>
                    <a:lstStyle/>
                    <a:p>
                      <a:pPr algn="l"/>
                      <a:r>
                        <a:rPr sz="1100">
                          <a:solidFill>
                            <a:srgbClr val="3C3C3C"/>
                          </a:solidFill>
                        </a:rPr>
                        <a:t>BBMP / BDA / CMC</a:t>
                      </a:r>
                    </a:p>
                  </a:txBody>
                  <a:tcPr>
                    <a:solidFill>
                      <a:srgbClr val="F4F7FC"/>
                    </a:solidFill>
                  </a:tcPr>
                </a:tc>
                <a:tc>
                  <a:txBody>
                    <a:bodyPr/>
                    <a:lstStyle/>
                    <a:p>
                      <a:pPr algn="l"/>
                      <a:r>
                        <a:rPr sz="1100">
                          <a:solidFill>
                            <a:srgbClr val="3C3C3C"/>
                          </a:solidFill>
                        </a:rPr>
                        <a:t>Khata status (A/B/E), tax dues, layout approval</a:t>
                      </a:r>
                    </a:p>
                  </a:txBody>
                  <a:tcPr>
                    <a:solidFill>
                      <a:srgbClr val="F4F7FC"/>
                    </a:solidFill>
                  </a:tcPr>
                </a:tc>
                <a:tc>
                  <a:txBody>
                    <a:bodyPr/>
                    <a:lstStyle/>
                    <a:p>
                      <a:pPr algn="l"/>
                      <a:r>
                        <a:rPr sz="1100">
                          <a:solidFill>
                            <a:srgbClr val="3C3C3C"/>
                          </a:solidFill>
                        </a:rPr>
                        <a:t>B-Khata trap, unapproved layouts, tax arrears blocking mutation</a:t>
                      </a:r>
                    </a:p>
                  </a:txBody>
                  <a:tcPr>
                    <a:solidFill>
                      <a:srgbClr val="F4F7FC"/>
                    </a:solidFill>
                  </a:tcPr>
                </a:tc>
              </a:tr>
              <a:tr h="594360">
                <a:tc>
                  <a:txBody>
                    <a:bodyPr/>
                    <a:lstStyle/>
                    <a:p>
                      <a:pPr algn="l"/>
                      <a:r>
                        <a:rPr sz="1100">
                          <a:solidFill>
                            <a:srgbClr val="3C3C3C"/>
                          </a:solidFill>
                        </a:rPr>
                        <a:t>eCourts (National)</a:t>
                      </a:r>
                    </a:p>
                  </a:txBody>
                  <a:tcPr>
                    <a:solidFill>
                      <a:srgbClr val="FFFFFF"/>
                    </a:solidFill>
                  </a:tcPr>
                </a:tc>
                <a:tc>
                  <a:txBody>
                    <a:bodyPr/>
                    <a:lstStyle/>
                    <a:p>
                      <a:pPr algn="l"/>
                      <a:r>
                        <a:rPr sz="1100">
                          <a:solidFill>
                            <a:srgbClr val="3C3C3C"/>
                          </a:solidFill>
                        </a:rPr>
                        <a:t>Court cases — reverse lookup by survey number + owner name</a:t>
                      </a:r>
                    </a:p>
                  </a:txBody>
                  <a:tcPr>
                    <a:solidFill>
                      <a:srgbClr val="FFFFFF"/>
                    </a:solidFill>
                  </a:tcPr>
                </a:tc>
                <a:tc>
                  <a:txBody>
                    <a:bodyPr/>
                    <a:lstStyle/>
                    <a:p>
                      <a:pPr algn="l"/>
                      <a:r>
                        <a:rPr sz="1100">
                          <a:solidFill>
                            <a:srgbClr val="3C3C3C"/>
                          </a:solidFill>
                        </a:rPr>
                        <a:t>Active disputes citizens NEVER find (eCourts needs case number, not survey number)</a:t>
                      </a:r>
                    </a:p>
                  </a:txBody>
                  <a:tcPr>
                    <a:solidFill>
                      <a:srgbClr val="FFFFFF"/>
                    </a:solidFill>
                  </a:tcPr>
                </a:tc>
              </a:tr>
              <a:tr h="594360">
                <a:tc>
                  <a:txBody>
                    <a:bodyPr/>
                    <a:lstStyle/>
                    <a:p>
                      <a:pPr algn="l"/>
                      <a:r>
                        <a:rPr sz="1100">
                          <a:solidFill>
                            <a:srgbClr val="3C3C3C"/>
                          </a:solidFill>
                        </a:rPr>
                        <a:t>CERSAI (Central)</a:t>
                      </a:r>
                    </a:p>
                  </a:txBody>
                  <a:tcPr>
                    <a:solidFill>
                      <a:srgbClr val="F4F7FC"/>
                    </a:solidFill>
                  </a:tcPr>
                </a:tc>
                <a:tc>
                  <a:txBody>
                    <a:bodyPr/>
                    <a:lstStyle/>
                    <a:p>
                      <a:pPr algn="l"/>
                      <a:r>
                        <a:rPr sz="1100">
                          <a:solidFill>
                            <a:srgbClr val="3C3C3C"/>
                          </a:solidFill>
                        </a:rPr>
                        <a:t>All bank charges and mortgages nationwide</a:t>
                      </a:r>
                    </a:p>
                  </a:txBody>
                  <a:tcPr>
                    <a:solidFill>
                      <a:srgbClr val="F4F7FC"/>
                    </a:solidFill>
                  </a:tcPr>
                </a:tc>
                <a:tc>
                  <a:txBody>
                    <a:bodyPr/>
                    <a:lstStyle/>
                    <a:p>
                      <a:pPr algn="l"/>
                      <a:r>
                        <a:rPr sz="1100">
                          <a:solidFill>
                            <a:srgbClr val="3C3C3C"/>
                          </a:solidFill>
                        </a:rPr>
                        <a:t>Bank loans not visible in state IGRS, NRI property loans</a:t>
                      </a:r>
                    </a:p>
                  </a:txBody>
                  <a:tcPr>
                    <a:solidFill>
                      <a:srgbClr val="F4F7FC"/>
                    </a:solidFill>
                  </a:tcPr>
                </a:tc>
              </a:tr>
              <a:tr h="594360">
                <a:tc>
                  <a:txBody>
                    <a:bodyPr/>
                    <a:lstStyle/>
                    <a:p>
                      <a:pPr algn="l"/>
                      <a:r>
                        <a:rPr sz="1100">
                          <a:solidFill>
                            <a:srgbClr val="3C3C3C"/>
                          </a:solidFill>
                        </a:rPr>
                        <a:t>Benami Portal (Income Tax)</a:t>
                      </a:r>
                    </a:p>
                  </a:txBody>
                  <a:tcPr>
                    <a:solidFill>
                      <a:srgbClr val="FFFFFF"/>
                    </a:solidFill>
                  </a:tcPr>
                </a:tc>
                <a:tc>
                  <a:txBody>
                    <a:bodyPr/>
                    <a:lstStyle/>
                    <a:p>
                      <a:pPr algn="l"/>
                      <a:r>
                        <a:rPr sz="1100">
                          <a:solidFill>
                            <a:srgbClr val="3C3C3C"/>
                          </a:solidFill>
                        </a:rPr>
                        <a:t>Properties under Benami investigation</a:t>
                      </a:r>
                    </a:p>
                  </a:txBody>
                  <a:tcPr>
                    <a:solidFill>
                      <a:srgbClr val="FFFFFF"/>
                    </a:solidFill>
                  </a:tcPr>
                </a:tc>
                <a:tc>
                  <a:txBody>
                    <a:bodyPr/>
                    <a:lstStyle/>
                    <a:p>
                      <a:pPr algn="l"/>
                      <a:r>
                        <a:rPr sz="1100">
                          <a:solidFill>
                            <a:srgbClr val="3C3C3C"/>
                          </a:solidFill>
                        </a:rPr>
                        <a:t>Govt can SEIZE property even after purchase. Most buyers never check this.</a:t>
                      </a:r>
                    </a:p>
                  </a:txBody>
                  <a:tcPr>
                    <a:solidFill>
                      <a:srgbClr val="FFFFFF"/>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972800" cy="365760"/>
          </a:xfrm>
          <a:prstGeom prst="rect">
            <a:avLst/>
          </a:prstGeom>
          <a:noFill/>
        </p:spPr>
        <p:txBody>
          <a:bodyPr wrap="square">
            <a:spAutoFit/>
          </a:bodyPr>
          <a:lstStyle/>
          <a:p>
            <a:pPr algn="l"/>
            <a:r>
              <a:rPr sz="1100" b="1" i="0">
                <a:solidFill>
                  <a:srgbClr val="1B4F8A"/>
                </a:solidFill>
              </a:rPr>
              <a:t>Full Journey</a:t>
            </a:r>
          </a:p>
        </p:txBody>
      </p:sp>
      <p:sp>
        <p:nvSpPr>
          <p:cNvPr id="4" name="TextBox 3"/>
          <p:cNvSpPr txBox="1"/>
          <p:nvPr/>
        </p:nvSpPr>
        <p:spPr>
          <a:xfrm>
            <a:off x="457200" y="457200"/>
            <a:ext cx="11274552" cy="640080"/>
          </a:xfrm>
          <a:prstGeom prst="rect">
            <a:avLst/>
          </a:prstGeom>
          <a:noFill/>
        </p:spPr>
        <p:txBody>
          <a:bodyPr wrap="square">
            <a:spAutoFit/>
          </a:bodyPr>
          <a:lstStyle/>
          <a:p>
            <a:pPr algn="l"/>
            <a:r>
              <a:rPr sz="2700" b="1" i="0">
                <a:solidFill>
                  <a:srgbClr val="0B2545"/>
                </a:solidFill>
              </a:rPr>
              <a:t>From Advance Payment to Final Mutation — All From Home</a:t>
            </a:r>
          </a:p>
        </p:txBody>
      </p:sp>
      <p:graphicFrame>
        <p:nvGraphicFramePr>
          <p:cNvPr id="5" name="Table 4"/>
          <p:cNvGraphicFramePr>
            <a:graphicFrameLocks noGrp="1"/>
          </p:cNvGraphicFramePr>
          <p:nvPr/>
        </p:nvGraphicFramePr>
        <p:xfrm>
          <a:off x="457200" y="1188720"/>
          <a:ext cx="11274552" cy="5120640"/>
        </p:xfrm>
        <a:graphic>
          <a:graphicData uri="http://schemas.openxmlformats.org/drawingml/2006/table">
            <a:tbl>
              <a:tblPr firstRow="1" bandRow="1">
                <a:tableStyleId>{5C22544A-7EE6-4342-B048-85BDC9FD1C3A}</a:tableStyleId>
              </a:tblPr>
              <a:tblGrid>
                <a:gridCol w="3758184"/>
                <a:gridCol w="3758184"/>
                <a:gridCol w="3758184"/>
              </a:tblGrid>
              <a:tr h="731520">
                <a:tc>
                  <a:txBody>
                    <a:bodyPr/>
                    <a:lstStyle/>
                    <a:p>
                      <a:pPr algn="l"/>
                      <a:r>
                        <a:rPr b="1" sz="1100">
                          <a:solidFill>
                            <a:srgbClr val="FFFFFF"/>
                          </a:solidFill>
                        </a:rPr>
                        <a:t>Journey Step</a:t>
                      </a:r>
                    </a:p>
                  </a:txBody>
                  <a:tcPr>
                    <a:solidFill>
                      <a:srgbClr val="0B2545"/>
                    </a:solidFill>
                  </a:tcPr>
                </a:tc>
                <a:tc>
                  <a:txBody>
                    <a:bodyPr/>
                    <a:lstStyle/>
                    <a:p>
                      <a:pPr algn="l"/>
                      <a:r>
                        <a:rPr b="1" sz="1100">
                          <a:solidFill>
                            <a:srgbClr val="FFFFFF"/>
                          </a:solidFill>
                        </a:rPr>
                        <a:t>Problem Today (Without DigiSampatti)</a:t>
                      </a:r>
                    </a:p>
                  </a:txBody>
                  <a:tcPr>
                    <a:solidFill>
                      <a:srgbClr val="0B2545"/>
                    </a:solidFill>
                  </a:tcPr>
                </a:tc>
                <a:tc>
                  <a:txBody>
                    <a:bodyPr/>
                    <a:lstStyle/>
                    <a:p>
                      <a:pPr algn="l"/>
                      <a:r>
                        <a:rPr b="1" sz="1100">
                          <a:solidFill>
                            <a:srgbClr val="FFFFFF"/>
                          </a:solidFill>
                        </a:rPr>
                        <a:t>DigiSampatti Solution (From Home)</a:t>
                      </a:r>
                    </a:p>
                  </a:txBody>
                  <a:tcPr>
                    <a:solidFill>
                      <a:srgbClr val="0B2545"/>
                    </a:solidFill>
                  </a:tcPr>
                </a:tc>
              </a:tr>
              <a:tr h="731520">
                <a:tc>
                  <a:txBody>
                    <a:bodyPr/>
                    <a:lstStyle/>
                    <a:p>
                      <a:pPr algn="l"/>
                      <a:r>
                        <a:rPr sz="1100">
                          <a:solidFill>
                            <a:srgbClr val="3C3C3C"/>
                          </a:solidFill>
                        </a:rPr>
                        <a:t>Before paying advance</a:t>
                      </a:r>
                    </a:p>
                  </a:txBody>
                  <a:tcPr>
                    <a:solidFill>
                      <a:srgbClr val="FFFFFF"/>
                    </a:solidFill>
                  </a:tcPr>
                </a:tc>
                <a:tc>
                  <a:txBody>
                    <a:bodyPr/>
                    <a:lstStyle/>
                    <a:p>
                      <a:pPr algn="l"/>
                      <a:r>
                        <a:rPr sz="1100">
                          <a:solidFill>
                            <a:srgbClr val="3C3C3C"/>
                          </a:solidFill>
                        </a:rPr>
                        <a:t>Pays ₹1–5L token money blindly. Discovers issues after paying.</a:t>
                      </a:r>
                    </a:p>
                  </a:txBody>
                  <a:tcPr>
                    <a:solidFill>
                      <a:srgbClr val="FFFFFF"/>
                    </a:solidFill>
                  </a:tcPr>
                </a:tc>
                <a:tc>
                  <a:txBody>
                    <a:bodyPr/>
                    <a:lstStyle/>
                    <a:p>
                      <a:pPr algn="l"/>
                      <a:r>
                        <a:rPr sz="1100">
                          <a:solidFill>
                            <a:srgbClr val="3C3C3C"/>
                          </a:solidFill>
                        </a:rPr>
                        <a:t>Pre-advance check: full 7-portal report before any rupee changes hands.</a:t>
                      </a:r>
                    </a:p>
                  </a:txBody>
                  <a:tcPr>
                    <a:solidFill>
                      <a:srgbClr val="FFFFFF"/>
                    </a:solidFill>
                  </a:tcPr>
                </a:tc>
              </a:tr>
              <a:tr h="731520">
                <a:tc>
                  <a:txBody>
                    <a:bodyPr/>
                    <a:lstStyle/>
                    <a:p>
                      <a:pPr algn="l"/>
                      <a:r>
                        <a:rPr sz="1100">
                          <a:solidFill>
                            <a:srgbClr val="3C3C3C"/>
                          </a:solidFill>
                        </a:rPr>
                        <a:t>Property identification</a:t>
                      </a:r>
                    </a:p>
                  </a:txBody>
                  <a:tcPr>
                    <a:solidFill>
                      <a:srgbClr val="F4F7FC"/>
                    </a:solidFill>
                  </a:tcPr>
                </a:tc>
                <a:tc>
                  <a:txBody>
                    <a:bodyPr/>
                    <a:lstStyle/>
                    <a:p>
                      <a:pPr algn="l"/>
                      <a:r>
                        <a:rPr sz="1100">
                          <a:solidFill>
                            <a:srgbClr val="3C3C3C"/>
                          </a:solidFill>
                        </a:rPr>
                        <a:t>Doesn't know survey number. Can't navigate portal.</a:t>
                      </a:r>
                    </a:p>
                  </a:txBody>
                  <a:tcPr>
                    <a:solidFill>
                      <a:srgbClr val="F4F7FC"/>
                    </a:solidFill>
                  </a:tcPr>
                </a:tc>
                <a:tc>
                  <a:txBody>
                    <a:bodyPr/>
                    <a:lstStyle/>
                    <a:p>
                      <a:pPr algn="l"/>
                      <a:r>
                        <a:rPr sz="1100">
                          <a:solidFill>
                            <a:srgbClr val="3C3C3C"/>
                          </a:solidFill>
                        </a:rPr>
                        <a:t>Camera scans document. GPS identifies land on-site. Auto-extracted.</a:t>
                      </a:r>
                    </a:p>
                  </a:txBody>
                  <a:tcPr>
                    <a:solidFill>
                      <a:srgbClr val="F4F7FC"/>
                    </a:solidFill>
                  </a:tcPr>
                </a:tc>
              </a:tr>
              <a:tr h="731520">
                <a:tc>
                  <a:txBody>
                    <a:bodyPr/>
                    <a:lstStyle/>
                    <a:p>
                      <a:pPr algn="l"/>
                      <a:r>
                        <a:rPr sz="1100">
                          <a:solidFill>
                            <a:srgbClr val="3C3C3C"/>
                          </a:solidFill>
                        </a:rPr>
                        <a:t>Full verification</a:t>
                      </a:r>
                    </a:p>
                  </a:txBody>
                  <a:tcPr>
                    <a:solidFill>
                      <a:srgbClr val="FFFFFF"/>
                    </a:solidFill>
                  </a:tcPr>
                </a:tc>
                <a:tc>
                  <a:txBody>
                    <a:bodyPr/>
                    <a:lstStyle/>
                    <a:p>
                      <a:pPr algn="l"/>
                      <a:r>
                        <a:rPr sz="1100">
                          <a:solidFill>
                            <a:srgbClr val="3C3C3C"/>
                          </a:solidFill>
                        </a:rPr>
                        <a:t>3–5 days, 7 portals, ₹15,000 lawyer, English docs, no verdict.</a:t>
                      </a:r>
                    </a:p>
                  </a:txBody>
                  <a:tcPr>
                    <a:solidFill>
                      <a:srgbClr val="FFFFFF"/>
                    </a:solidFill>
                  </a:tcPr>
                </a:tc>
                <a:tc>
                  <a:txBody>
                    <a:bodyPr/>
                    <a:lstStyle/>
                    <a:p>
                      <a:pPr algn="l"/>
                      <a:r>
                        <a:rPr sz="1100">
                          <a:solidFill>
                            <a:srgbClr val="3C3C3C"/>
                          </a:solidFill>
                        </a:rPr>
                        <a:t>10 min, ₹99, 7 portals, plain Kannada verdict. Govt fees paid.</a:t>
                      </a:r>
                    </a:p>
                  </a:txBody>
                  <a:tcPr>
                    <a:solidFill>
                      <a:srgbClr val="FFFFFF"/>
                    </a:solidFill>
                  </a:tcPr>
                </a:tc>
              </a:tr>
              <a:tr h="731520">
                <a:tc>
                  <a:txBody>
                    <a:bodyPr/>
                    <a:lstStyle/>
                    <a:p>
                      <a:pPr algn="l"/>
                      <a:r>
                        <a:rPr sz="1100">
                          <a:solidFill>
                            <a:srgbClr val="3C3C3C"/>
                          </a:solidFill>
                        </a:rPr>
                        <a:t>Legal opinion</a:t>
                      </a:r>
                    </a:p>
                  </a:txBody>
                  <a:tcPr>
                    <a:solidFill>
                      <a:srgbClr val="F4F7FC"/>
                    </a:solidFill>
                  </a:tcPr>
                </a:tc>
                <a:tc>
                  <a:txBody>
                    <a:bodyPr/>
                    <a:lstStyle/>
                    <a:p>
                      <a:pPr algn="l"/>
                      <a:r>
                        <a:rPr sz="1100">
                          <a:solidFill>
                            <a:srgbClr val="3C3C3C"/>
                          </a:solidFill>
                        </a:rPr>
                        <a:t>₹50,000 lawyer. Rural citizens have no access.</a:t>
                      </a:r>
                    </a:p>
                  </a:txBody>
                  <a:tcPr>
                    <a:solidFill>
                      <a:srgbClr val="F4F7FC"/>
                    </a:solidFill>
                  </a:tcPr>
                </a:tc>
                <a:tc>
                  <a:txBody>
                    <a:bodyPr/>
                    <a:lstStyle/>
                    <a:p>
                      <a:pPr algn="l"/>
                      <a:r>
                        <a:rPr sz="1100">
                          <a:solidFill>
                            <a:srgbClr val="3C3C3C"/>
                          </a:solidFill>
                        </a:rPr>
                        <a:t>Verified Karnataka lawyer on app. ₹500–2,000. 2 hours. Remote.</a:t>
                      </a:r>
                    </a:p>
                  </a:txBody>
                  <a:tcPr>
                    <a:solidFill>
                      <a:srgbClr val="F4F7FC"/>
                    </a:solidFill>
                  </a:tcPr>
                </a:tc>
              </a:tr>
              <a:tr h="731520">
                <a:tc>
                  <a:txBody>
                    <a:bodyPr/>
                    <a:lstStyle/>
                    <a:p>
                      <a:pPr algn="l"/>
                      <a:r>
                        <a:rPr sz="1100">
                          <a:solidFill>
                            <a:srgbClr val="3C3C3C"/>
                          </a:solidFill>
                        </a:rPr>
                        <a:t>Stamp duty calculation</a:t>
                      </a:r>
                    </a:p>
                  </a:txBody>
                  <a:tcPr>
                    <a:solidFill>
                      <a:srgbClr val="FFFFFF"/>
                    </a:solidFill>
                  </a:tcPr>
                </a:tc>
                <a:tc>
                  <a:txBody>
                    <a:bodyPr/>
                    <a:lstStyle/>
                    <a:p>
                      <a:pPr algn="l"/>
                      <a:r>
                        <a:rPr sz="1100">
                          <a:solidFill>
                            <a:srgbClr val="3C3C3C"/>
                          </a:solidFill>
                        </a:rPr>
                        <a:t>Surprise at sub-registrar office. Transaction fails.</a:t>
                      </a:r>
                    </a:p>
                  </a:txBody>
                  <a:tcPr>
                    <a:solidFill>
                      <a:srgbClr val="FFFFFF"/>
                    </a:solidFill>
                  </a:tcPr>
                </a:tc>
                <a:tc>
                  <a:txBody>
                    <a:bodyPr/>
                    <a:lstStyle/>
                    <a:p>
                      <a:pPr algn="l"/>
                      <a:r>
                        <a:rPr sz="1100">
                          <a:solidFill>
                            <a:srgbClr val="3C3C3C"/>
                          </a:solidFill>
                        </a:rPr>
                        <a:t>Exact calculation by property type, value, district — upfront.</a:t>
                      </a:r>
                    </a:p>
                  </a:txBody>
                  <a:tcPr>
                    <a:solidFill>
                      <a:srgbClr val="FFFFFF"/>
                    </a:solidFill>
                  </a:tcPr>
                </a:tc>
              </a:tr>
              <a:tr h="731520">
                <a:tc>
                  <a:txBody>
                    <a:bodyPr/>
                    <a:lstStyle/>
                    <a:p>
                      <a:pPr algn="l"/>
                      <a:r>
                        <a:rPr sz="1100">
                          <a:solidFill>
                            <a:srgbClr val="3C3C3C"/>
                          </a:solidFill>
                        </a:rPr>
                        <a:t>Post-registration mutation</a:t>
                      </a:r>
                    </a:p>
                  </a:txBody>
                  <a:tcPr>
                    <a:solidFill>
                      <a:srgbClr val="F4F7FC"/>
                    </a:solidFill>
                  </a:tcPr>
                </a:tc>
                <a:tc>
                  <a:txBody>
                    <a:bodyPr/>
                    <a:lstStyle/>
                    <a:p>
                      <a:pPr algn="l"/>
                      <a:r>
                        <a:rPr sz="1100">
                          <a:solidFill>
                            <a:srgbClr val="3C3C3C"/>
                          </a:solidFill>
                        </a:rPr>
                        <a:t>No notification. Manual follow-up for months.</a:t>
                      </a:r>
                    </a:p>
                  </a:txBody>
                  <a:tcPr>
                    <a:solidFill>
                      <a:srgbClr val="F4F7FC"/>
                    </a:solidFill>
                  </a:tcPr>
                </a:tc>
                <a:tc>
                  <a:txBody>
                    <a:bodyPr/>
                    <a:lstStyle/>
                    <a:p>
                      <a:pPr algn="l"/>
                      <a:r>
                        <a:rPr sz="1100">
                          <a:solidFill>
                            <a:srgbClr val="3C3C3C"/>
                          </a:solidFill>
                        </a:rPr>
                        <a:t>Auto-SMS when Bhoomi mutation confirmed. Legal proof sent.</a:t>
                      </a:r>
                    </a:p>
                  </a:txBody>
                  <a:tcPr>
                    <a:solidFill>
                      <a:srgbClr val="F4F7FC"/>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972800" cy="365760"/>
          </a:xfrm>
          <a:prstGeom prst="rect">
            <a:avLst/>
          </a:prstGeom>
          <a:noFill/>
        </p:spPr>
        <p:txBody>
          <a:bodyPr wrap="square">
            <a:spAutoFit/>
          </a:bodyPr>
          <a:lstStyle/>
          <a:p>
            <a:pPr algn="l"/>
            <a:r>
              <a:rPr sz="1100" b="1" i="0">
                <a:solidFill>
                  <a:srgbClr val="1B4F8A"/>
                </a:solidFill>
              </a:rPr>
              <a:t>Why Intelligence Matters</a:t>
            </a:r>
          </a:p>
        </p:txBody>
      </p:sp>
      <p:sp>
        <p:nvSpPr>
          <p:cNvPr id="4" name="TextBox 3"/>
          <p:cNvSpPr txBox="1"/>
          <p:nvPr/>
        </p:nvSpPr>
        <p:spPr>
          <a:xfrm>
            <a:off x="457200" y="457200"/>
            <a:ext cx="11274552" cy="731520"/>
          </a:xfrm>
          <a:prstGeom prst="rect">
            <a:avLst/>
          </a:prstGeom>
          <a:noFill/>
        </p:spPr>
        <p:txBody>
          <a:bodyPr wrap="square">
            <a:spAutoFit/>
          </a:bodyPr>
          <a:lstStyle/>
          <a:p>
            <a:pPr algn="l"/>
            <a:r>
              <a:rPr sz="2600" b="1" i="0">
                <a:solidFill>
                  <a:srgbClr val="0B2545"/>
                </a:solidFill>
              </a:rPr>
              <a:t>Government Portals Have the Data. Fraud Lives in the Gap Between Them.</a:t>
            </a:r>
          </a:p>
        </p:txBody>
      </p:sp>
      <p:sp>
        <p:nvSpPr>
          <p:cNvPr id="5" name="Rectangle 4"/>
          <p:cNvSpPr/>
          <p:nvPr/>
        </p:nvSpPr>
        <p:spPr>
          <a:xfrm>
            <a:off x="457200" y="1234440"/>
            <a:ext cx="11274552" cy="548640"/>
          </a:xfrm>
          <a:prstGeom prst="rect">
            <a:avLst/>
          </a:prstGeom>
          <a:solidFill>
            <a:srgbClr val="FFEBEE"/>
          </a:solidFill>
          <a:ln w="12700">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261872"/>
            <a:ext cx="10972800" cy="493776"/>
          </a:xfrm>
          <a:prstGeom prst="rect">
            <a:avLst/>
          </a:prstGeom>
          <a:noFill/>
        </p:spPr>
        <p:txBody>
          <a:bodyPr wrap="square">
            <a:spAutoFit/>
          </a:bodyPr>
          <a:lstStyle/>
          <a:p>
            <a:pPr algn="l"/>
            <a:r>
              <a:rPr sz="1300" b="1" i="0">
                <a:solidFill>
                  <a:srgbClr val="7B1A1A"/>
                </a:solidFill>
              </a:rPr>
              <a:t>"Sir, government portals are all correct. Fraud is never in one portal. Fraud lives in the gap between portals. DigiSampatti reads the gap."</a:t>
            </a:r>
          </a:p>
        </p:txBody>
      </p:sp>
      <p:graphicFrame>
        <p:nvGraphicFramePr>
          <p:cNvPr id="7" name="Table 6"/>
          <p:cNvGraphicFramePr>
            <a:graphicFrameLocks noGrp="1"/>
          </p:cNvGraphicFramePr>
          <p:nvPr/>
        </p:nvGraphicFramePr>
        <p:xfrm>
          <a:off x="457200" y="1874519"/>
          <a:ext cx="11274552" cy="4480560"/>
        </p:xfrm>
        <a:graphic>
          <a:graphicData uri="http://schemas.openxmlformats.org/drawingml/2006/table">
            <a:tbl>
              <a:tblPr firstRow="1" bandRow="1">
                <a:tableStyleId>{5C22544A-7EE6-4342-B048-85BDC9FD1C3A}</a:tableStyleId>
              </a:tblPr>
              <a:tblGrid>
                <a:gridCol w="3758184"/>
                <a:gridCol w="3758184"/>
                <a:gridCol w="3758184"/>
              </a:tblGrid>
              <a:tr h="896112">
                <a:tc>
                  <a:txBody>
                    <a:bodyPr/>
                    <a:lstStyle/>
                    <a:p>
                      <a:pPr algn="l"/>
                      <a:r>
                        <a:rPr b="1" sz="1100">
                          <a:solidFill>
                            <a:srgbClr val="FFFFFF"/>
                          </a:solidFill>
                        </a:rPr>
                        <a:t>What Portal Shows</a:t>
                      </a:r>
                    </a:p>
                  </a:txBody>
                  <a:tcPr>
                    <a:solidFill>
                      <a:srgbClr val="0B2545"/>
                    </a:solidFill>
                  </a:tcPr>
                </a:tc>
                <a:tc>
                  <a:txBody>
                    <a:bodyPr/>
                    <a:lstStyle/>
                    <a:p>
                      <a:pPr algn="l"/>
                      <a:r>
                        <a:rPr b="1" sz="1100">
                          <a:solidFill>
                            <a:srgbClr val="FFFFFF"/>
                          </a:solidFill>
                        </a:rPr>
                        <a:t>What Citizen Understands</a:t>
                      </a:r>
                    </a:p>
                  </a:txBody>
                  <a:tcPr>
                    <a:solidFill>
                      <a:srgbClr val="0B2545"/>
                    </a:solidFill>
                  </a:tcPr>
                </a:tc>
                <a:tc>
                  <a:txBody>
                    <a:bodyPr/>
                    <a:lstStyle/>
                    <a:p>
                      <a:pPr algn="l"/>
                      <a:r>
                        <a:rPr b="1" sz="1100">
                          <a:solidFill>
                            <a:srgbClr val="FFFFFF"/>
                          </a:solidFill>
                        </a:rPr>
                        <a:t>What DigiSampatti Tells Them</a:t>
                      </a:r>
                    </a:p>
                  </a:txBody>
                  <a:tcPr>
                    <a:solidFill>
                      <a:srgbClr val="0B2545"/>
                    </a:solidFill>
                  </a:tcPr>
                </a:tc>
              </a:tr>
              <a:tr h="896112">
                <a:tc>
                  <a:txBody>
                    <a:bodyPr/>
                    <a:lstStyle/>
                    <a:p>
                      <a:pPr algn="l"/>
                      <a:r>
                        <a:rPr sz="1100">
                          <a:solidFill>
                            <a:srgbClr val="3C3C3C"/>
                          </a:solidFill>
                        </a:rPr>
                        <a:t>RERA: Project complete. Bhoomi: Land is agricultural. BBMP: No khata.</a:t>
                      </a:r>
                    </a:p>
                  </a:txBody>
                  <a:tcPr>
                    <a:solidFill>
                      <a:srgbClr val="FFFFFF"/>
                    </a:solidFill>
                  </a:tcPr>
                </a:tc>
                <a:tc>
                  <a:txBody>
                    <a:bodyPr/>
                    <a:lstStyle/>
                    <a:p>
                      <a:pPr algn="l"/>
                      <a:r>
                        <a:rPr sz="1100">
                          <a:solidFill>
                            <a:srgbClr val="3C3C3C"/>
                          </a:solidFill>
                        </a:rPr>
                        <a:t>Each portal looks fine. Citizen sees no problem.</a:t>
                      </a:r>
                    </a:p>
                  </a:txBody>
                  <a:tcPr>
                    <a:solidFill>
                      <a:srgbClr val="FFFFFF"/>
                    </a:solidFill>
                  </a:tcPr>
                </a:tc>
                <a:tc>
                  <a:txBody>
                    <a:bodyPr/>
                    <a:lstStyle/>
                    <a:p>
                      <a:pPr algn="l"/>
                      <a:r>
                        <a:rPr sz="1100">
                          <a:solidFill>
                            <a:srgbClr val="3C3C3C"/>
                          </a:solidFill>
                        </a:rPr>
                        <a:t>FRAUD DETECTED: Building is on unconverted agricultural land. Apartment legally invalid. DO NOT BUY.</a:t>
                      </a:r>
                    </a:p>
                  </a:txBody>
                  <a:tcPr>
                    <a:solidFill>
                      <a:srgbClr val="FFFFFF"/>
                    </a:solidFill>
                  </a:tcPr>
                </a:tc>
              </a:tr>
              <a:tr h="896112">
                <a:tc>
                  <a:txBody>
                    <a:bodyPr/>
                    <a:lstStyle/>
                    <a:p>
                      <a:pPr algn="l"/>
                      <a:r>
                        <a:rPr sz="1100">
                          <a:solidFill>
                            <a:srgbClr val="3C3C3C"/>
                          </a:solidFill>
                        </a:rPr>
                        <a:t>IGRS: SBI charge ₹18L — 2022 — ACTIVE</a:t>
                      </a:r>
                    </a:p>
                  </a:txBody>
                  <a:tcPr>
                    <a:solidFill>
                      <a:srgbClr val="F4F7FC"/>
                    </a:solidFill>
                  </a:tcPr>
                </a:tc>
                <a:tc>
                  <a:txBody>
                    <a:bodyPr/>
                    <a:lstStyle/>
                    <a:p>
                      <a:pPr algn="l"/>
                      <a:r>
                        <a:rPr sz="1100">
                          <a:solidFill>
                            <a:srgbClr val="3C3C3C"/>
                          </a:solidFill>
                        </a:rPr>
                        <a:t>Sees a bank name. Doesn't know if cleared.</a:t>
                      </a:r>
                    </a:p>
                  </a:txBody>
                  <a:tcPr>
                    <a:solidFill>
                      <a:srgbClr val="F4F7FC"/>
                    </a:solidFill>
                  </a:tcPr>
                </a:tc>
                <a:tc>
                  <a:txBody>
                    <a:bodyPr/>
                    <a:lstStyle/>
                    <a:p>
                      <a:pPr algn="l"/>
                      <a:r>
                        <a:rPr sz="1100">
                          <a:solidFill>
                            <a:srgbClr val="3C3C3C"/>
                          </a:solidFill>
                        </a:rPr>
                        <a:t>CAUTION: Active SBI mortgage. Verify NOC before paying. Cannot get clear title.</a:t>
                      </a:r>
                    </a:p>
                  </a:txBody>
                  <a:tcPr>
                    <a:solidFill>
                      <a:srgbClr val="F4F7FC"/>
                    </a:solidFill>
                  </a:tcPr>
                </a:tc>
              </a:tr>
              <a:tr h="896112">
                <a:tc>
                  <a:txBody>
                    <a:bodyPr/>
                    <a:lstStyle/>
                    <a:p>
                      <a:pPr algn="l"/>
                      <a:r>
                        <a:rPr sz="1100">
                          <a:solidFill>
                            <a:srgbClr val="3C3C3C"/>
                          </a:solidFill>
                        </a:rPr>
                        <a:t>eCourts: Case #432/2021 — Tumkur Civil — Active</a:t>
                      </a:r>
                    </a:p>
                  </a:txBody>
                  <a:tcPr>
                    <a:solidFill>
                      <a:srgbClr val="FFFFFF"/>
                    </a:solidFill>
                  </a:tcPr>
                </a:tc>
                <a:tc>
                  <a:txBody>
                    <a:bodyPr/>
                    <a:lstStyle/>
                    <a:p>
                      <a:pPr algn="l"/>
                      <a:r>
                        <a:rPr sz="1100">
                          <a:solidFill>
                            <a:srgbClr val="3C3C3C"/>
                          </a:solidFill>
                        </a:rPr>
                        <a:t>Cannot find. eCourts needs case number, not survey number.</a:t>
                      </a:r>
                    </a:p>
                  </a:txBody>
                  <a:tcPr>
                    <a:solidFill>
                      <a:srgbClr val="FFFFFF"/>
                    </a:solidFill>
                  </a:tcPr>
                </a:tc>
                <a:tc>
                  <a:txBody>
                    <a:bodyPr/>
                    <a:lstStyle/>
                    <a:p>
                      <a:pPr algn="l"/>
                      <a:r>
                        <a:rPr sz="1100">
                          <a:solidFill>
                            <a:srgbClr val="3C3C3C"/>
                          </a:solidFill>
                        </a:rPr>
                        <a:t>Active court dispute found on this property. DO NOT BUY. Next hearing: April 2026.</a:t>
                      </a:r>
                    </a:p>
                  </a:txBody>
                  <a:tcPr>
                    <a:solidFill>
                      <a:srgbClr val="FFFFFF"/>
                    </a:solidFill>
                  </a:tcPr>
                </a:tc>
              </a:tr>
              <a:tr h="896112">
                <a:tc>
                  <a:txBody>
                    <a:bodyPr/>
                    <a:lstStyle/>
                    <a:p>
                      <a:pPr algn="l"/>
                      <a:r>
                        <a:rPr sz="1100">
                          <a:solidFill>
                            <a:srgbClr val="3C3C3C"/>
                          </a:solidFill>
                        </a:rPr>
                        <a:t>Benami portal: Survey 45/3 flagged</a:t>
                      </a:r>
                    </a:p>
                  </a:txBody>
                  <a:tcPr>
                    <a:solidFill>
                      <a:srgbClr val="F4F7FC"/>
                    </a:solidFill>
                  </a:tcPr>
                </a:tc>
                <a:tc>
                  <a:txBody>
                    <a:bodyPr/>
                    <a:lstStyle/>
                    <a:p>
                      <a:pPr algn="l"/>
                      <a:r>
                        <a:rPr sz="1100">
                          <a:solidFill>
                            <a:srgbClr val="3C3C3C"/>
                          </a:solidFill>
                        </a:rPr>
                        <a:t>Has never heard of Benami portal. Buys property.</a:t>
                      </a:r>
                    </a:p>
                  </a:txBody>
                  <a:tcPr>
                    <a:solidFill>
                      <a:srgbClr val="F4F7FC"/>
                    </a:solidFill>
                  </a:tcPr>
                </a:tc>
                <a:tc>
                  <a:txBody>
                    <a:bodyPr/>
                    <a:lstStyle/>
                    <a:p>
                      <a:pPr algn="l"/>
                      <a:r>
                        <a:rPr sz="1100">
                          <a:solidFill>
                            <a:srgbClr val="3C3C3C"/>
                          </a:solidFill>
                        </a:rPr>
                        <a:t>CRITICAL: Govt may seize this property. DO NOT BUY under any circumstances.</a:t>
                      </a:r>
                    </a:p>
                  </a:txBody>
                  <a:tcPr>
                    <a:solidFill>
                      <a:srgbClr val="F4F7FC"/>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972800" cy="365760"/>
          </a:xfrm>
          <a:prstGeom prst="rect">
            <a:avLst/>
          </a:prstGeom>
          <a:noFill/>
        </p:spPr>
        <p:txBody>
          <a:bodyPr wrap="square">
            <a:spAutoFit/>
          </a:bodyPr>
          <a:lstStyle/>
          <a:p>
            <a:pPr algn="l"/>
            <a:r>
              <a:rPr sz="1100" b="1" i="0">
                <a:solidFill>
                  <a:srgbClr val="1B4F8A"/>
                </a:solidFill>
              </a:rPr>
              <a:t>Expert Council + Government Fees</a:t>
            </a:r>
          </a:p>
        </p:txBody>
      </p:sp>
      <p:sp>
        <p:nvSpPr>
          <p:cNvPr id="4" name="TextBox 3"/>
          <p:cNvSpPr txBox="1"/>
          <p:nvPr/>
        </p:nvSpPr>
        <p:spPr>
          <a:xfrm>
            <a:off x="457200" y="457200"/>
            <a:ext cx="11274552" cy="640080"/>
          </a:xfrm>
          <a:prstGeom prst="rect">
            <a:avLst/>
          </a:prstGeom>
          <a:noFill/>
        </p:spPr>
        <p:txBody>
          <a:bodyPr wrap="square">
            <a:spAutoFit/>
          </a:bodyPr>
          <a:lstStyle/>
          <a:p>
            <a:pPr algn="l"/>
            <a:r>
              <a:rPr sz="2700" b="1" i="0">
                <a:solidFill>
                  <a:srgbClr val="0B2545"/>
                </a:solidFill>
              </a:rPr>
              <a:t>Government Revenue Protected. Retired Karnataka Officials Earning.</a:t>
            </a:r>
          </a:p>
        </p:txBody>
      </p:sp>
      <p:sp>
        <p:nvSpPr>
          <p:cNvPr id="5" name="Rectangle 4"/>
          <p:cNvSpPr/>
          <p:nvPr/>
        </p:nvSpPr>
        <p:spPr>
          <a:xfrm>
            <a:off x="457200" y="1170432"/>
            <a:ext cx="5669280" cy="3200400"/>
          </a:xfrm>
          <a:prstGeom prst="rect">
            <a:avLst/>
          </a:prstGeom>
          <a:solidFill>
            <a:srgbClr val="F4F7FC"/>
          </a:solidFill>
          <a:ln w="12700">
            <a:solidFill>
              <a:srgbClr val="C8D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234440"/>
            <a:ext cx="5303520" cy="365760"/>
          </a:xfrm>
          <a:prstGeom prst="rect">
            <a:avLst/>
          </a:prstGeom>
          <a:noFill/>
        </p:spPr>
        <p:txBody>
          <a:bodyPr wrap="square">
            <a:spAutoFit/>
          </a:bodyPr>
          <a:lstStyle/>
          <a:p>
            <a:pPr algn="l"/>
            <a:r>
              <a:rPr sz="1400" b="1" i="0">
                <a:solidFill>
                  <a:srgbClr val="0B2545"/>
                </a:solidFill>
              </a:rPr>
              <a:t>Government Portal Fees — Fully Paid</a:t>
            </a:r>
          </a:p>
        </p:txBody>
      </p:sp>
      <p:sp>
        <p:nvSpPr>
          <p:cNvPr id="7" name="TextBox 6"/>
          <p:cNvSpPr txBox="1"/>
          <p:nvPr/>
        </p:nvSpPr>
        <p:spPr>
          <a:xfrm>
            <a:off x="640080" y="1600200"/>
            <a:ext cx="5303520" cy="2651760"/>
          </a:xfrm>
          <a:prstGeom prst="rect">
            <a:avLst/>
          </a:prstGeom>
          <a:noFill/>
        </p:spPr>
        <p:txBody>
          <a:bodyPr wrap="square">
            <a:spAutoFit/>
          </a:bodyPr>
          <a:lstStyle/>
          <a:p>
            <a:pPr algn="l"/>
            <a:r>
              <a:rPr sz="1200" b="0" i="0">
                <a:solidFill>
                  <a:srgbClr val="3C3C3C"/>
                </a:solidFill>
              </a:rPr>
              <a:t>DigiSampatti pays every government fee on the citizen's behalf:
→ Bhoomi RTC:  ₹15–25 paid to Revenue Dept
→ IGRS/KAVERI EC:  ₹30–50 paid to IGRS
→ CERSAI:  ₹10 paid to Central Registry
→ BBMP:  ₹100–500 paid to BBMP
Government revenue INCREASES — citizens who
would never have accessed portals individually
now pay fees through DigiSampatti.</a:t>
            </a:r>
          </a:p>
        </p:txBody>
      </p:sp>
      <p:sp>
        <p:nvSpPr>
          <p:cNvPr id="8" name="Rectangle 7"/>
          <p:cNvSpPr/>
          <p:nvPr/>
        </p:nvSpPr>
        <p:spPr>
          <a:xfrm>
            <a:off x="6400800" y="1170432"/>
            <a:ext cx="5330952" cy="3200400"/>
          </a:xfrm>
          <a:prstGeom prst="rect">
            <a:avLst/>
          </a:prstGeom>
          <a:solidFill>
            <a:srgbClr val="F4F7FC"/>
          </a:solidFill>
          <a:ln w="12700">
            <a:solidFill>
              <a:srgbClr val="C8D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0" y="1234440"/>
            <a:ext cx="4937760" cy="365760"/>
          </a:xfrm>
          <a:prstGeom prst="rect">
            <a:avLst/>
          </a:prstGeom>
          <a:noFill/>
        </p:spPr>
        <p:txBody>
          <a:bodyPr wrap="square">
            <a:spAutoFit/>
          </a:bodyPr>
          <a:lstStyle/>
          <a:p>
            <a:pPr algn="l"/>
            <a:r>
              <a:rPr sz="1400" b="1" i="0">
                <a:solidFill>
                  <a:srgbClr val="0B2545"/>
                </a:solidFill>
              </a:rPr>
              <a:t>Karnataka Property Intelligence Council</a:t>
            </a:r>
          </a:p>
        </p:txBody>
      </p:sp>
      <p:sp>
        <p:nvSpPr>
          <p:cNvPr id="10" name="TextBox 9"/>
          <p:cNvSpPr txBox="1"/>
          <p:nvPr/>
        </p:nvSpPr>
        <p:spPr>
          <a:xfrm>
            <a:off x="6583680" y="1600200"/>
            <a:ext cx="5029200" cy="2651760"/>
          </a:xfrm>
          <a:prstGeom prst="rect">
            <a:avLst/>
          </a:prstGeom>
          <a:noFill/>
        </p:spPr>
        <p:txBody>
          <a:bodyPr wrap="square">
            <a:spAutoFit/>
          </a:bodyPr>
          <a:lstStyle/>
          <a:p>
            <a:pPr algn="l"/>
            <a:r>
              <a:rPr sz="1200" b="0" i="0">
                <a:solidFill>
                  <a:srgbClr val="3C3C3C"/>
                </a:solidFill>
              </a:rPr>
              <a:t>Just as Anthropic hired 20 financial analysts
to train Claude — DigiSampatti builds the
same model for Karnataka property law:
→ Retired Revenue Inspectors (5)
   Train AI on Bhoomi/mutation complexities
→ Bar Council Lawyers (8)
   Review CAUTION verdicts and land law
→ Bank Loan Officers (5)
   Train AI on CERSAI/mortgage patterns
→ Retired Sub-registrar Officers (2)
   Train AI on registration red flags
Each expert earns ₹200–500 per case review.</a:t>
            </a:r>
          </a:p>
        </p:txBody>
      </p:sp>
      <p:sp>
        <p:nvSpPr>
          <p:cNvPr id="11" name="Rectangle 10"/>
          <p:cNvSpPr/>
          <p:nvPr/>
        </p:nvSpPr>
        <p:spPr>
          <a:xfrm>
            <a:off x="457200" y="4526280"/>
            <a:ext cx="11274552" cy="822960"/>
          </a:xfrm>
          <a:prstGeom prst="rect">
            <a:avLst/>
          </a:prstGeom>
          <a:solidFill>
            <a:srgbClr val="E8F5E9"/>
          </a:solidFill>
          <a:ln w="25400">
            <a:solidFill>
              <a:srgbClr val="13880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4553712"/>
            <a:ext cx="10972800" cy="768096"/>
          </a:xfrm>
          <a:prstGeom prst="rect">
            <a:avLst/>
          </a:prstGeom>
          <a:noFill/>
        </p:spPr>
        <p:txBody>
          <a:bodyPr wrap="square">
            <a:spAutoFit/>
          </a:bodyPr>
          <a:lstStyle/>
          <a:p>
            <a:pPr algn="l"/>
            <a:r>
              <a:rPr sz="1300" b="1" i="0">
                <a:solidFill>
                  <a:srgbClr val="1B4520"/>
                </a:solidFill>
              </a:rPr>
              <a:t>Every DigiSampatti check: Govt portal fees paid  +  Retired Karnataka officials earning  +  Citizen protected
The government's infrastructure earns more. The government's retired professionals earn more. Citizens are safer.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972800" cy="365760"/>
          </a:xfrm>
          <a:prstGeom prst="rect">
            <a:avLst/>
          </a:prstGeom>
          <a:noFill/>
        </p:spPr>
        <p:txBody>
          <a:bodyPr wrap="square">
            <a:spAutoFit/>
          </a:bodyPr>
          <a:lstStyle/>
          <a:p>
            <a:pPr algn="l"/>
            <a:r>
              <a:rPr sz="1100" b="1" i="0">
                <a:solidFill>
                  <a:srgbClr val="1B4F8A"/>
                </a:solidFill>
              </a:rPr>
              <a:t>Government Benefits</a:t>
            </a:r>
          </a:p>
        </p:txBody>
      </p:sp>
      <p:sp>
        <p:nvSpPr>
          <p:cNvPr id="4" name="TextBox 3"/>
          <p:cNvSpPr txBox="1"/>
          <p:nvPr/>
        </p:nvSpPr>
        <p:spPr>
          <a:xfrm>
            <a:off x="457200" y="457200"/>
            <a:ext cx="11274552" cy="640080"/>
          </a:xfrm>
          <a:prstGeom prst="rect">
            <a:avLst/>
          </a:prstGeom>
          <a:noFill/>
        </p:spPr>
        <p:txBody>
          <a:bodyPr wrap="square">
            <a:spAutoFit/>
          </a:bodyPr>
          <a:lstStyle/>
          <a:p>
            <a:pPr algn="l"/>
            <a:r>
              <a:rPr sz="2800" b="1" i="0">
                <a:solidFill>
                  <a:srgbClr val="0B2545"/>
                </a:solidFill>
              </a:rPr>
              <a:t>How DigiSampatti Strengthens the Government</a:t>
            </a:r>
          </a:p>
        </p:txBody>
      </p:sp>
      <p:sp>
        <p:nvSpPr>
          <p:cNvPr id="5" name="Rectangle 4"/>
          <p:cNvSpPr/>
          <p:nvPr/>
        </p:nvSpPr>
        <p:spPr>
          <a:xfrm>
            <a:off x="457200" y="1188720"/>
            <a:ext cx="5669280" cy="2194560"/>
          </a:xfrm>
          <a:prstGeom prst="rect">
            <a:avLst/>
          </a:prstGeom>
          <a:solidFill>
            <a:srgbClr val="F4F7FC"/>
          </a:solidFill>
          <a:ln w="12700">
            <a:solidFill>
              <a:srgbClr val="C8D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280160"/>
            <a:ext cx="5394960" cy="411480"/>
          </a:xfrm>
          <a:prstGeom prst="rect">
            <a:avLst/>
          </a:prstGeom>
          <a:noFill/>
        </p:spPr>
        <p:txBody>
          <a:bodyPr wrap="square">
            <a:spAutoFit/>
          </a:bodyPr>
          <a:lstStyle/>
          <a:p>
            <a:pPr algn="l"/>
            <a:r>
              <a:rPr sz="1400" b="1" i="0">
                <a:solidFill>
                  <a:srgbClr val="0B2545"/>
                </a:solidFill>
              </a:rPr>
              <a:t>Protects ₹7L Stamp Duty Revenue</a:t>
            </a:r>
          </a:p>
        </p:txBody>
      </p:sp>
      <p:sp>
        <p:nvSpPr>
          <p:cNvPr id="7" name="TextBox 6"/>
          <p:cNvSpPr txBox="1"/>
          <p:nvPr/>
        </p:nvSpPr>
        <p:spPr>
          <a:xfrm>
            <a:off x="594360" y="1664208"/>
            <a:ext cx="5394960" cy="1600200"/>
          </a:xfrm>
          <a:prstGeom prst="rect">
            <a:avLst/>
          </a:prstGeom>
          <a:noFill/>
        </p:spPr>
        <p:txBody>
          <a:bodyPr wrap="square">
            <a:spAutoFit/>
          </a:bodyPr>
          <a:lstStyle/>
          <a:p>
            <a:pPr algn="l"/>
            <a:r>
              <a:rPr sz="1200" b="0" i="0">
                <a:solidFill>
                  <a:srgbClr val="464646"/>
                </a:solidFill>
              </a:rPr>
              <a:t>A citizen paying ₹7 lakh in stamp duty deserves to know for ₹99 whether that property is worth registering. DigiSampatti catches issues BEFORE registration. Fraudulent registrations prevented. Stamp duty revenue goes to clean transactions only.</a:t>
            </a:r>
          </a:p>
        </p:txBody>
      </p:sp>
      <p:sp>
        <p:nvSpPr>
          <p:cNvPr id="8" name="Rectangle 7"/>
          <p:cNvSpPr/>
          <p:nvPr/>
        </p:nvSpPr>
        <p:spPr>
          <a:xfrm>
            <a:off x="6355080" y="1188720"/>
            <a:ext cx="5669280" cy="2194560"/>
          </a:xfrm>
          <a:prstGeom prst="rect">
            <a:avLst/>
          </a:prstGeom>
          <a:solidFill>
            <a:srgbClr val="F4F7FC"/>
          </a:solidFill>
          <a:ln w="12700">
            <a:solidFill>
              <a:srgbClr val="C8D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1280160"/>
            <a:ext cx="5394960" cy="411480"/>
          </a:xfrm>
          <a:prstGeom prst="rect">
            <a:avLst/>
          </a:prstGeom>
          <a:noFill/>
        </p:spPr>
        <p:txBody>
          <a:bodyPr wrap="square">
            <a:spAutoFit/>
          </a:bodyPr>
          <a:lstStyle/>
          <a:p>
            <a:pPr algn="l"/>
            <a:r>
              <a:rPr sz="1400" b="1" i="0">
                <a:solidFill>
                  <a:srgbClr val="0B2545"/>
                </a:solidFill>
              </a:rPr>
              <a:t>Fewer Cases in Revenue Courts</a:t>
            </a:r>
          </a:p>
        </p:txBody>
      </p:sp>
      <p:sp>
        <p:nvSpPr>
          <p:cNvPr id="10" name="TextBox 9"/>
          <p:cNvSpPr txBox="1"/>
          <p:nvPr/>
        </p:nvSpPr>
        <p:spPr>
          <a:xfrm>
            <a:off x="6492240" y="1664208"/>
            <a:ext cx="5394960" cy="1600200"/>
          </a:xfrm>
          <a:prstGeom prst="rect">
            <a:avLst/>
          </a:prstGeom>
          <a:noFill/>
        </p:spPr>
        <p:txBody>
          <a:bodyPr wrap="square">
            <a:spAutoFit/>
          </a:bodyPr>
          <a:lstStyle/>
          <a:p>
            <a:pPr algn="l"/>
            <a:r>
              <a:rPr sz="1200" b="0" i="0">
                <a:solidFill>
                  <a:srgbClr val="464646"/>
                </a:solidFill>
              </a:rPr>
              <a:t>DigiSampatti catches disputes before the transaction. Fewer fraudulent transactions = fewer Revenue Tribunal and Civil Court cases. Karnataka courts are backlogged with preventable property disputes.</a:t>
            </a:r>
          </a:p>
        </p:txBody>
      </p:sp>
      <p:sp>
        <p:nvSpPr>
          <p:cNvPr id="11" name="Rectangle 10"/>
          <p:cNvSpPr/>
          <p:nvPr/>
        </p:nvSpPr>
        <p:spPr>
          <a:xfrm>
            <a:off x="457200" y="3566160"/>
            <a:ext cx="5669280" cy="2194560"/>
          </a:xfrm>
          <a:prstGeom prst="rect">
            <a:avLst/>
          </a:prstGeom>
          <a:solidFill>
            <a:srgbClr val="F4F7FC"/>
          </a:solidFill>
          <a:ln w="12700">
            <a:solidFill>
              <a:srgbClr val="C8D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3657600"/>
            <a:ext cx="5394960" cy="411480"/>
          </a:xfrm>
          <a:prstGeom prst="rect">
            <a:avLst/>
          </a:prstGeom>
          <a:noFill/>
        </p:spPr>
        <p:txBody>
          <a:bodyPr wrap="square">
            <a:spAutoFit/>
          </a:bodyPr>
          <a:lstStyle/>
          <a:p>
            <a:pPr algn="l"/>
            <a:r>
              <a:rPr sz="1400" b="1" i="0">
                <a:solidFill>
                  <a:srgbClr val="0B2545"/>
                </a:solidFill>
              </a:rPr>
              <a:t>SC/ST Land Protected</a:t>
            </a:r>
          </a:p>
        </p:txBody>
      </p:sp>
      <p:sp>
        <p:nvSpPr>
          <p:cNvPr id="13" name="TextBox 12"/>
          <p:cNvSpPr txBox="1"/>
          <p:nvPr/>
        </p:nvSpPr>
        <p:spPr>
          <a:xfrm>
            <a:off x="594360" y="4041648"/>
            <a:ext cx="5394960" cy="1600200"/>
          </a:xfrm>
          <a:prstGeom prst="rect">
            <a:avLst/>
          </a:prstGeom>
          <a:noFill/>
        </p:spPr>
        <p:txBody>
          <a:bodyPr wrap="square">
            <a:spAutoFit/>
          </a:bodyPr>
          <a:lstStyle/>
          <a:p>
            <a:pPr algn="l"/>
            <a:r>
              <a:rPr sz="1200" b="0" i="0">
                <a:solidFill>
                  <a:srgbClr val="464646"/>
                </a:solidFill>
              </a:rPr>
              <a:t>Karnataka's PTCL Act restricts SC/ST land transfer. DigiSampatti flags this in every report — enforcing the government's constitutional obligation at the transaction level. Every check protects the most vulnerable landowners.</a:t>
            </a:r>
          </a:p>
        </p:txBody>
      </p:sp>
      <p:sp>
        <p:nvSpPr>
          <p:cNvPr id="14" name="Rectangle 13"/>
          <p:cNvSpPr/>
          <p:nvPr/>
        </p:nvSpPr>
        <p:spPr>
          <a:xfrm>
            <a:off x="6355080" y="3566160"/>
            <a:ext cx="5669280" cy="2194560"/>
          </a:xfrm>
          <a:prstGeom prst="rect">
            <a:avLst/>
          </a:prstGeom>
          <a:solidFill>
            <a:srgbClr val="F4F7FC"/>
          </a:solidFill>
          <a:ln w="12700">
            <a:solidFill>
              <a:srgbClr val="C8D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92240" y="3657600"/>
            <a:ext cx="5394960" cy="411480"/>
          </a:xfrm>
          <a:prstGeom prst="rect">
            <a:avLst/>
          </a:prstGeom>
          <a:noFill/>
        </p:spPr>
        <p:txBody>
          <a:bodyPr wrap="square">
            <a:spAutoFit/>
          </a:bodyPr>
          <a:lstStyle/>
          <a:p>
            <a:pPr algn="l"/>
            <a:r>
              <a:rPr sz="1400" b="1" i="0">
                <a:solidFill>
                  <a:srgbClr val="0B2545"/>
                </a:solidFill>
              </a:rPr>
              <a:t>₹137Cr Investment Reaches Every Citizen</a:t>
            </a:r>
          </a:p>
        </p:txBody>
      </p:sp>
      <p:sp>
        <p:nvSpPr>
          <p:cNvPr id="16" name="TextBox 15"/>
          <p:cNvSpPr txBox="1"/>
          <p:nvPr/>
        </p:nvSpPr>
        <p:spPr>
          <a:xfrm>
            <a:off x="6492240" y="4041648"/>
            <a:ext cx="5394960" cy="1600200"/>
          </a:xfrm>
          <a:prstGeom prst="rect">
            <a:avLst/>
          </a:prstGeom>
          <a:noFill/>
        </p:spPr>
        <p:txBody>
          <a:bodyPr wrap="square">
            <a:spAutoFit/>
          </a:bodyPr>
          <a:lstStyle/>
          <a:p>
            <a:pPr algn="l"/>
            <a:r>
              <a:rPr sz="1200" b="0" i="0">
                <a:solidFill>
                  <a:srgbClr val="464646"/>
                </a:solidFill>
              </a:rPr>
              <a:t>Govt spent ₹137Cr digitising land records. Today 90% of citizens can't use that data. DigiSampatti makes that investment reach the farmer in Tumkur — the person it was meant to serve.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972800" cy="365760"/>
          </a:xfrm>
          <a:prstGeom prst="rect">
            <a:avLst/>
          </a:prstGeom>
          <a:noFill/>
        </p:spPr>
        <p:txBody>
          <a:bodyPr wrap="square">
            <a:spAutoFit/>
          </a:bodyPr>
          <a:lstStyle/>
          <a:p>
            <a:pPr algn="l"/>
            <a:r>
              <a:rPr sz="1100" b="1" i="0">
                <a:solidFill>
                  <a:srgbClr val="1B4F8A"/>
                </a:solidFill>
              </a:rPr>
              <a:t>Our Requests</a:t>
            </a:r>
          </a:p>
        </p:txBody>
      </p:sp>
      <p:sp>
        <p:nvSpPr>
          <p:cNvPr id="4" name="TextBox 3"/>
          <p:cNvSpPr txBox="1"/>
          <p:nvPr/>
        </p:nvSpPr>
        <p:spPr>
          <a:xfrm>
            <a:off x="457200" y="457200"/>
            <a:ext cx="11274552" cy="640080"/>
          </a:xfrm>
          <a:prstGeom prst="rect">
            <a:avLst/>
          </a:prstGeom>
          <a:noFill/>
        </p:spPr>
        <p:txBody>
          <a:bodyPr wrap="square">
            <a:spAutoFit/>
          </a:bodyPr>
          <a:lstStyle/>
          <a:p>
            <a:pPr algn="l"/>
            <a:r>
              <a:rPr sz="2700" b="1" i="0">
                <a:solidFill>
                  <a:srgbClr val="0B2545"/>
                </a:solidFill>
              </a:rPr>
              <a:t>Three Requests — No Government Budget Required</a:t>
            </a:r>
          </a:p>
        </p:txBody>
      </p:sp>
      <p:sp>
        <p:nvSpPr>
          <p:cNvPr id="5" name="TextBox 4"/>
          <p:cNvSpPr txBox="1"/>
          <p:nvPr/>
        </p:nvSpPr>
        <p:spPr>
          <a:xfrm>
            <a:off x="457200" y="1051560"/>
            <a:ext cx="10972800" cy="365760"/>
          </a:xfrm>
          <a:prstGeom prst="rect">
            <a:avLst/>
          </a:prstGeom>
          <a:noFill/>
        </p:spPr>
        <p:txBody>
          <a:bodyPr wrap="square">
            <a:spAutoFit/>
          </a:bodyPr>
          <a:lstStyle/>
          <a:p>
            <a:pPr algn="l"/>
            <a:r>
              <a:rPr sz="1400" b="0" i="1">
                <a:solidFill>
                  <a:srgbClr val="646464"/>
                </a:solidFill>
              </a:rPr>
              <a:t>We are not asking for funding. We are asking for permission to serve.</a:t>
            </a:r>
          </a:p>
        </p:txBody>
      </p:sp>
      <p:sp>
        <p:nvSpPr>
          <p:cNvPr id="6" name="Rectangle 5"/>
          <p:cNvSpPr/>
          <p:nvPr/>
        </p:nvSpPr>
        <p:spPr>
          <a:xfrm>
            <a:off x="365760" y="1508760"/>
            <a:ext cx="3703320" cy="4572000"/>
          </a:xfrm>
          <a:prstGeom prst="rect">
            <a:avLst/>
          </a:prstGeom>
          <a:solidFill>
            <a:srgbClr val="F4F7FC"/>
          </a:solidFill>
          <a:ln w="25400">
            <a:solidFill>
              <a:srgbClr val="1B4F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75488" y="1572768"/>
            <a:ext cx="3493008" cy="457200"/>
          </a:xfrm>
          <a:prstGeom prst="rect">
            <a:avLst/>
          </a:prstGeom>
          <a:noFill/>
        </p:spPr>
        <p:txBody>
          <a:bodyPr wrap="square">
            <a:spAutoFit/>
          </a:bodyPr>
          <a:lstStyle/>
          <a:p>
            <a:pPr algn="l"/>
            <a:r>
              <a:rPr sz="1300" b="1" i="0">
                <a:solidFill>
                  <a:srgbClr val="0B2545"/>
                </a:solidFill>
              </a:rPr>
              <a:t>Request 1 — Official API Access</a:t>
            </a:r>
          </a:p>
        </p:txBody>
      </p:sp>
      <p:sp>
        <p:nvSpPr>
          <p:cNvPr id="8" name="TextBox 7"/>
          <p:cNvSpPr txBox="1"/>
          <p:nvPr/>
        </p:nvSpPr>
        <p:spPr>
          <a:xfrm>
            <a:off x="475488" y="2029968"/>
            <a:ext cx="3493008" cy="3931920"/>
          </a:xfrm>
          <a:prstGeom prst="rect">
            <a:avLst/>
          </a:prstGeom>
          <a:noFill/>
        </p:spPr>
        <p:txBody>
          <a:bodyPr wrap="square">
            <a:spAutoFit/>
          </a:bodyPr>
          <a:lstStyle/>
          <a:p>
            <a:pPr algn="l"/>
            <a:r>
              <a:rPr sz="1100" b="0" i="0">
                <a:solidFill>
                  <a:srgbClr val="3C3C3C"/>
                </a:solidFill>
              </a:rPr>
              <a:t>Dedicated, stable API access to Bhoomi, IGRS/KAVERI, and RERA Karnataka for authorized platforms like DigiSampatti.
Currently accessing public data — which breaks when portal UI changes. A stable API:
→ Makes reports 10x faster and more reliable
→ Zero additional load on public portals
→ Can be conditional on DPDP Act compliance audit
→ Formal request already submitted</a:t>
            </a:r>
          </a:p>
        </p:txBody>
      </p:sp>
      <p:sp>
        <p:nvSpPr>
          <p:cNvPr id="9" name="Rectangle 8"/>
          <p:cNvSpPr/>
          <p:nvPr/>
        </p:nvSpPr>
        <p:spPr>
          <a:xfrm>
            <a:off x="4251960" y="1508760"/>
            <a:ext cx="3703320" cy="4572000"/>
          </a:xfrm>
          <a:prstGeom prst="rect">
            <a:avLst/>
          </a:prstGeom>
          <a:solidFill>
            <a:srgbClr val="F4F7FC"/>
          </a:solidFill>
          <a:ln w="25400">
            <a:solidFill>
              <a:srgbClr val="1B4F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361688" y="1572768"/>
            <a:ext cx="3493008" cy="457200"/>
          </a:xfrm>
          <a:prstGeom prst="rect">
            <a:avLst/>
          </a:prstGeom>
          <a:noFill/>
        </p:spPr>
        <p:txBody>
          <a:bodyPr wrap="square">
            <a:spAutoFit/>
          </a:bodyPr>
          <a:lstStyle/>
          <a:p>
            <a:pPr algn="l"/>
            <a:r>
              <a:rPr sz="1300" b="1" i="0">
                <a:solidFill>
                  <a:srgbClr val="0B2545"/>
                </a:solidFill>
              </a:rPr>
              <a:t>Request 2 — eCourts Survey Number Search</a:t>
            </a:r>
          </a:p>
        </p:txBody>
      </p:sp>
      <p:sp>
        <p:nvSpPr>
          <p:cNvPr id="11" name="TextBox 10"/>
          <p:cNvSpPr txBox="1"/>
          <p:nvPr/>
        </p:nvSpPr>
        <p:spPr>
          <a:xfrm>
            <a:off x="4361688" y="2029968"/>
            <a:ext cx="3493008" cy="3931920"/>
          </a:xfrm>
          <a:prstGeom prst="rect">
            <a:avLst/>
          </a:prstGeom>
          <a:noFill/>
        </p:spPr>
        <p:txBody>
          <a:bodyPr wrap="square">
            <a:spAutoFit/>
          </a:bodyPr>
          <a:lstStyle/>
          <a:p>
            <a:pPr algn="l"/>
            <a:r>
              <a:rPr sz="1100" b="0" i="0">
                <a:solidFill>
                  <a:srgbClr val="3C3C3C"/>
                </a:solidFill>
              </a:rPr>
              <a:t>Request to NIC/eCourts team to allow property survey number as a search parameter in ecourts.gov.in.
Currently eCourts only searches by case number — which no buyer has. This single change:
→ Benefits every Indian property buyer — not just DigiSampatti users
→ Closes the single largest gap in property due diligence in India
→ A national public good — minor technical change, enormous citizen benefit</a:t>
            </a:r>
          </a:p>
        </p:txBody>
      </p:sp>
      <p:sp>
        <p:nvSpPr>
          <p:cNvPr id="12" name="Rectangle 11"/>
          <p:cNvSpPr/>
          <p:nvPr/>
        </p:nvSpPr>
        <p:spPr>
          <a:xfrm>
            <a:off x="8138160" y="1508760"/>
            <a:ext cx="3703320" cy="4572000"/>
          </a:xfrm>
          <a:prstGeom prst="rect">
            <a:avLst/>
          </a:prstGeom>
          <a:solidFill>
            <a:srgbClr val="F4F7FC"/>
          </a:solidFill>
          <a:ln w="25400">
            <a:solidFill>
              <a:srgbClr val="1B4F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47888" y="1572768"/>
            <a:ext cx="3493008" cy="457200"/>
          </a:xfrm>
          <a:prstGeom prst="rect">
            <a:avLst/>
          </a:prstGeom>
          <a:noFill/>
        </p:spPr>
        <p:txBody>
          <a:bodyPr wrap="square">
            <a:spAutoFit/>
          </a:bodyPr>
          <a:lstStyle/>
          <a:p>
            <a:pPr algn="l"/>
            <a:r>
              <a:rPr sz="1300" b="1" i="0">
                <a:solidFill>
                  <a:srgbClr val="0B2545"/>
                </a:solidFill>
              </a:rPr>
              <a:t>Request 3 — Sub-Registrar Pilot + Endorsement</a:t>
            </a:r>
          </a:p>
        </p:txBody>
      </p:sp>
      <p:sp>
        <p:nvSpPr>
          <p:cNvPr id="14" name="TextBox 13"/>
          <p:cNvSpPr txBox="1"/>
          <p:nvPr/>
        </p:nvSpPr>
        <p:spPr>
          <a:xfrm>
            <a:off x="8247888" y="2029968"/>
            <a:ext cx="3493008" cy="3931920"/>
          </a:xfrm>
          <a:prstGeom prst="rect">
            <a:avLst/>
          </a:prstGeom>
          <a:noFill/>
        </p:spPr>
        <p:txBody>
          <a:bodyPr wrap="square">
            <a:spAutoFit/>
          </a:bodyPr>
          <a:lstStyle/>
          <a:p>
            <a:pPr algn="l"/>
            <a:r>
              <a:rPr sz="1100" b="0" i="0">
                <a:solidFill>
                  <a:srgbClr val="3C3C3C"/>
                </a:solidFill>
              </a:rPr>
              <a:t>Permission to run DigiSampatti at 5–10 sub-registrar offices in Karnataka as a voluntary citizen service.
A QR code at the counter. Purely voluntary. No mandatory requirement.
Optional: A letter of endorsement from the Revenue Department stating DigiSampatti is a recognized citizen tool. This one letter builds instant trust with farmers who trust government more than any private company.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2545"/>
        </a:solidFill>
        <a:effectLst/>
      </p:bgPr>
    </p:bg>
    <p:spTree>
      <p:nvGrpSpPr>
        <p:cNvPr id="1" name=""/>
        <p:cNvGrpSpPr/>
        <p:nvPr/>
      </p:nvGrpSpPr>
      <p:grpSpPr/>
      <p:sp>
        <p:nvSpPr>
          <p:cNvPr id="2" name="Rectangle 1"/>
          <p:cNvSpPr/>
          <p:nvPr/>
        </p:nvSpPr>
        <p:spPr>
          <a:xfrm>
            <a:off x="0" y="0"/>
            <a:ext cx="4059936" cy="109728"/>
          </a:xfrm>
          <a:prstGeom prst="rect">
            <a:avLst/>
          </a:prstGeom>
          <a:solidFill>
            <a:srgbClr val="FF99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059936" y="0"/>
            <a:ext cx="4059936" cy="1097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119872" y="0"/>
            <a:ext cx="4069080" cy="109728"/>
          </a:xfrm>
          <a:prstGeom prst="rect">
            <a:avLst/>
          </a:prstGeom>
          <a:solidFill>
            <a:srgbClr val="1388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0" y="1005840"/>
            <a:ext cx="12188952" cy="822960"/>
          </a:xfrm>
          <a:prstGeom prst="rect">
            <a:avLst/>
          </a:prstGeom>
          <a:noFill/>
        </p:spPr>
        <p:txBody>
          <a:bodyPr wrap="square">
            <a:spAutoFit/>
          </a:bodyPr>
          <a:lstStyle/>
          <a:p>
            <a:pPr algn="ctr"/>
            <a:r>
              <a:rPr sz="3800" b="1" i="0">
                <a:solidFill>
                  <a:srgbClr val="FFFFFF"/>
                </a:solidFill>
              </a:rPr>
              <a:t>One Request, Sir</a:t>
            </a:r>
          </a:p>
        </p:txBody>
      </p:sp>
      <p:sp>
        <p:nvSpPr>
          <p:cNvPr id="6" name="TextBox 5"/>
          <p:cNvSpPr txBox="1"/>
          <p:nvPr/>
        </p:nvSpPr>
        <p:spPr>
          <a:xfrm>
            <a:off x="914400" y="1737360"/>
            <a:ext cx="10360152" cy="3840480"/>
          </a:xfrm>
          <a:prstGeom prst="rect">
            <a:avLst/>
          </a:prstGeom>
          <a:noFill/>
        </p:spPr>
        <p:txBody>
          <a:bodyPr wrap="square">
            <a:spAutoFit/>
          </a:bodyPr>
          <a:lstStyle/>
          <a:p>
            <a:pPr algn="ctr"/>
            <a:r>
              <a:rPr sz="1500" b="0" i="0">
                <a:solidFill>
                  <a:srgbClr val="DCE6F5"/>
                </a:solidFill>
              </a:rPr>
              <a:t>The Government of Karnataka has already done the hardest work —
digitizing every land record, building Bhoomi, KAVERI, RERA, eCourts.
The farmer in Tumkur. The teacher in Mysuru. The NRI in Dubai. The SC/ST widow in Kolar.
They cannot access or understand that data today — sitting at home, without a middleman, without an officer.
DigiSampatti bridges that gap — connecting 7 government portals,
reading the contradictions between them, and delivering one clear decision in Kannada.
We are not asking for money.
We are asking for the right to make your data work for every citizen.</a:t>
            </a:r>
          </a:p>
        </p:txBody>
      </p:sp>
      <p:sp>
        <p:nvSpPr>
          <p:cNvPr id="7" name="TextBox 6"/>
          <p:cNvSpPr txBox="1"/>
          <p:nvPr/>
        </p:nvSpPr>
        <p:spPr>
          <a:xfrm>
            <a:off x="914400" y="5349240"/>
            <a:ext cx="10360152" cy="411480"/>
          </a:xfrm>
          <a:prstGeom prst="rect">
            <a:avLst/>
          </a:prstGeom>
          <a:noFill/>
        </p:spPr>
        <p:txBody>
          <a:bodyPr wrap="square">
            <a:spAutoFit/>
          </a:bodyPr>
          <a:lstStyle/>
          <a:p>
            <a:pPr algn="ctr"/>
            <a:r>
              <a:rPr sz="1400" b="1" i="0">
                <a:solidFill>
                  <a:srgbClr val="FFD100"/>
                </a:solidFill>
              </a:rPr>
              <a:t>₹99. 10 minutes. Before paying ₹7 lakh to your government. That is DigiSampatti.</a:t>
            </a:r>
          </a:p>
        </p:txBody>
      </p:sp>
      <p:sp>
        <p:nvSpPr>
          <p:cNvPr id="8" name="TextBox 7"/>
          <p:cNvSpPr txBox="1"/>
          <p:nvPr/>
        </p:nvSpPr>
        <p:spPr>
          <a:xfrm>
            <a:off x="0" y="6035040"/>
            <a:ext cx="12188952" cy="365760"/>
          </a:xfrm>
          <a:prstGeom prst="rect">
            <a:avLst/>
          </a:prstGeom>
          <a:noFill/>
        </p:spPr>
        <p:txBody>
          <a:bodyPr wrap="square">
            <a:spAutoFit/>
          </a:bodyPr>
          <a:lstStyle/>
          <a:p>
            <a:pPr algn="ctr"/>
            <a:r>
              <a:rPr sz="1200" b="0" i="0">
                <a:solidFill>
                  <a:srgbClr val="96AAC8"/>
                </a:solidFill>
              </a:rPr>
              <a:t>Sanjay R  |  rajsanjay381@gmail.com  |  +91 89043 42255  |  Patent Pending  |  DPDP Act 2023 Compliant</a:t>
            </a:r>
          </a:p>
        </p:txBody>
      </p:sp>
      <p:sp>
        <p:nvSpPr>
          <p:cNvPr id="9" name="Rectangle 8"/>
          <p:cNvSpPr/>
          <p:nvPr/>
        </p:nvSpPr>
        <p:spPr>
          <a:xfrm>
            <a:off x="0" y="6748272"/>
            <a:ext cx="4059936" cy="109728"/>
          </a:xfrm>
          <a:prstGeom prst="rect">
            <a:avLst/>
          </a:prstGeom>
          <a:solidFill>
            <a:srgbClr val="FF99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059936" y="6748272"/>
            <a:ext cx="4059936" cy="1097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119872" y="6748272"/>
            <a:ext cx="4069080" cy="109728"/>
          </a:xfrm>
          <a:prstGeom prst="rect">
            <a:avLst/>
          </a:prstGeom>
          <a:solidFill>
            <a:srgbClr val="1388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